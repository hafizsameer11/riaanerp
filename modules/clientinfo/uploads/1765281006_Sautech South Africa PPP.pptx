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10" r:id="rId1"/>
  </p:sldMasterIdLst>
  <p:sldIdLst>
    <p:sldId id="256" r:id="rId2"/>
    <p:sldId id="257" r:id="rId3"/>
    <p:sldId id="271" r:id="rId4"/>
    <p:sldId id="272" r:id="rId5"/>
    <p:sldId id="258" r:id="rId6"/>
    <p:sldId id="264" r:id="rId7"/>
    <p:sldId id="263" r:id="rId8"/>
    <p:sldId id="261" r:id="rId9"/>
    <p:sldId id="266" r:id="rId10"/>
    <p:sldId id="260" r:id="rId11"/>
    <p:sldId id="259" r:id="rId12"/>
    <p:sldId id="262" r:id="rId13"/>
    <p:sldId id="273" r:id="rId14"/>
    <p:sldId id="270" r:id="rId15"/>
    <p:sldId id="267" r:id="rId16"/>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060"/>
    <a:srgbClr val="C5EC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72" d="100"/>
          <a:sy n="72" d="100"/>
        </p:scale>
        <p:origin x="618"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8169320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0168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3/8/2023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491095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3/8/2023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623290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3/8/2023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173971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3/8/2023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950237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3/8/2023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2326415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3/8/2023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060709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3/8/2023</a:t>
            </a:fld>
            <a:endParaRPr lang="en-US" dirty="0"/>
          </a:p>
        </p:txBody>
      </p:sp>
    </p:spTree>
    <p:extLst>
      <p:ext uri="{BB962C8B-B14F-4D97-AF65-F5344CB8AC3E}">
        <p14:creationId xmlns:p14="http://schemas.microsoft.com/office/powerpoint/2010/main" val="7363056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3/8/2023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5543639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3/8/2023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6666629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3/8/2023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5978215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3/8/2023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0330389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3/8/2023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8975781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5141922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512705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8A87A34-81AB-432B-8DAE-1953F412C126}" type="datetimeFigureOut">
              <a:rPr lang="en-US" smtClean="0"/>
              <a:pPr/>
              <a:t>3/8/2023</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283748732"/>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D4B5AA0-864B-4E49-ACA6-006949FBE767}"/>
              </a:ext>
            </a:extLst>
          </p:cNvPr>
          <p:cNvPicPr>
            <a:picLocks noChangeAspect="1"/>
          </p:cNvPicPr>
          <p:nvPr/>
        </p:nvPicPr>
        <p:blipFill>
          <a:blip r:embed="rId2"/>
          <a:stretch>
            <a:fillRect/>
          </a:stretch>
        </p:blipFill>
        <p:spPr>
          <a:xfrm>
            <a:off x="3067915" y="391351"/>
            <a:ext cx="4629151" cy="4629151"/>
          </a:xfrm>
          <a:prstGeom prst="rect">
            <a:avLst/>
          </a:prstGeom>
          <a:effectLst>
            <a:softEdge rad="317500"/>
          </a:effectLst>
        </p:spPr>
      </p:pic>
      <p:sp>
        <p:nvSpPr>
          <p:cNvPr id="8" name="TextBox 7">
            <a:extLst>
              <a:ext uri="{FF2B5EF4-FFF2-40B4-BE49-F238E27FC236}">
                <a16:creationId xmlns:a16="http://schemas.microsoft.com/office/drawing/2014/main" id="{D7D46712-1A61-4409-85D1-EAC5C919D2C9}"/>
              </a:ext>
            </a:extLst>
          </p:cNvPr>
          <p:cNvSpPr txBox="1"/>
          <p:nvPr/>
        </p:nvSpPr>
        <p:spPr>
          <a:xfrm>
            <a:off x="1736521" y="5020502"/>
            <a:ext cx="6970157" cy="707886"/>
          </a:xfrm>
          <a:prstGeom prst="rect">
            <a:avLst/>
          </a:prstGeom>
          <a:noFill/>
        </p:spPr>
        <p:txBody>
          <a:bodyPr wrap="square" rtlCol="0">
            <a:spAutoFit/>
          </a:bodyPr>
          <a:lstStyle/>
          <a:p>
            <a:r>
              <a:rPr lang="en-US" sz="4000" dirty="0"/>
              <a:t>Sautech South Africa Services  </a:t>
            </a:r>
            <a:endParaRPr lang="en-ZA" sz="4000" dirty="0"/>
          </a:p>
        </p:txBody>
      </p:sp>
    </p:spTree>
    <p:extLst>
      <p:ext uri="{BB962C8B-B14F-4D97-AF65-F5344CB8AC3E}">
        <p14:creationId xmlns:p14="http://schemas.microsoft.com/office/powerpoint/2010/main" val="37066347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A62E599A-564E-42D8-BD34-3E124F975531}"/>
              </a:ext>
            </a:extLst>
          </p:cNvPr>
          <p:cNvSpPr>
            <a:spLocks noGrp="1"/>
          </p:cNvSpPr>
          <p:nvPr>
            <p:ph type="body" idx="1"/>
          </p:nvPr>
        </p:nvSpPr>
        <p:spPr>
          <a:xfrm>
            <a:off x="386388" y="1118537"/>
            <a:ext cx="9052453" cy="1153685"/>
          </a:xfrm>
        </p:spPr>
        <p:txBody>
          <a:bodyPr/>
          <a:lstStyle/>
          <a:p>
            <a:r>
              <a:rPr lang="en-US" sz="1400" dirty="0"/>
              <a:t>Our Hosted Exchange solution is a fully managed Microsoft Exchange 2016/2019 secure and multi-tenanted solution delivered from the cloud. Our Exchange is supported by Microsoft, Checkpoint Security, Hosting Controller and SpamTitan. This environment is in-house supported by Sautech engineers. Sautech was one of the first to offer Hosted Exchange in South Africa</a:t>
            </a:r>
            <a:endParaRPr lang="en-ZA" sz="1400" dirty="0"/>
          </a:p>
        </p:txBody>
      </p:sp>
      <p:sp>
        <p:nvSpPr>
          <p:cNvPr id="7" name="Text Placeholder 6">
            <a:extLst>
              <a:ext uri="{FF2B5EF4-FFF2-40B4-BE49-F238E27FC236}">
                <a16:creationId xmlns:a16="http://schemas.microsoft.com/office/drawing/2014/main" id="{F8D2CD06-09DA-48C1-9C23-5867C6D41236}"/>
              </a:ext>
            </a:extLst>
          </p:cNvPr>
          <p:cNvSpPr>
            <a:spLocks noGrp="1"/>
          </p:cNvSpPr>
          <p:nvPr>
            <p:ph type="body" sz="quarter" idx="3"/>
          </p:nvPr>
        </p:nvSpPr>
        <p:spPr>
          <a:xfrm>
            <a:off x="386388" y="2219180"/>
            <a:ext cx="4185618" cy="576262"/>
          </a:xfrm>
        </p:spPr>
        <p:txBody>
          <a:bodyPr/>
          <a:lstStyle/>
          <a:p>
            <a:r>
              <a:rPr lang="en-US" dirty="0">
                <a:solidFill>
                  <a:srgbClr val="002060"/>
                </a:solidFill>
              </a:rPr>
              <a:t>Benefits:</a:t>
            </a:r>
            <a:endParaRPr lang="en-ZA" dirty="0">
              <a:solidFill>
                <a:srgbClr val="002060"/>
              </a:solidFill>
            </a:endParaRPr>
          </a:p>
        </p:txBody>
      </p:sp>
      <p:sp>
        <p:nvSpPr>
          <p:cNvPr id="8" name="Content Placeholder 7">
            <a:extLst>
              <a:ext uri="{FF2B5EF4-FFF2-40B4-BE49-F238E27FC236}">
                <a16:creationId xmlns:a16="http://schemas.microsoft.com/office/drawing/2014/main" id="{19DC0F8A-6C4B-4A57-8486-32FB383DC30D}"/>
              </a:ext>
            </a:extLst>
          </p:cNvPr>
          <p:cNvSpPr>
            <a:spLocks noGrp="1"/>
          </p:cNvSpPr>
          <p:nvPr>
            <p:ph sz="quarter" idx="4"/>
          </p:nvPr>
        </p:nvSpPr>
        <p:spPr>
          <a:xfrm>
            <a:off x="386388" y="2941488"/>
            <a:ext cx="4237133" cy="3731736"/>
          </a:xfrm>
        </p:spPr>
        <p:txBody>
          <a:bodyPr>
            <a:normAutofit fontScale="25000" lnSpcReduction="20000"/>
          </a:bodyPr>
          <a:lstStyle/>
          <a:p>
            <a:pPr fontAlgn="base"/>
            <a:r>
              <a:rPr lang="en-US" sz="5600" dirty="0"/>
              <a:t>Always ON</a:t>
            </a:r>
          </a:p>
          <a:p>
            <a:pPr fontAlgn="base"/>
            <a:r>
              <a:rPr lang="en-US" sz="5600" dirty="0"/>
              <a:t>Calendar Sharing</a:t>
            </a:r>
          </a:p>
          <a:p>
            <a:pPr fontAlgn="base"/>
            <a:r>
              <a:rPr lang="en-US" sz="5600" dirty="0"/>
              <a:t>Phone/Tablet/Laptop Synchronized email</a:t>
            </a:r>
          </a:p>
          <a:p>
            <a:pPr fontAlgn="base"/>
            <a:r>
              <a:rPr lang="en-US" sz="5600" dirty="0"/>
              <a:t>Backed-up in the Cloud</a:t>
            </a:r>
          </a:p>
          <a:p>
            <a:pPr fontAlgn="base"/>
            <a:r>
              <a:rPr lang="en-US" sz="5600" dirty="0"/>
              <a:t>Work anytime, anywhere: always connected, even if your devices are not with you, Webmail access is available</a:t>
            </a:r>
          </a:p>
          <a:p>
            <a:pPr fontAlgn="base"/>
            <a:r>
              <a:rPr lang="en-US" sz="5600" dirty="0"/>
              <a:t>Up-to-Date: changes made to your email, contacts, and calendars on any device, such as Microsoft Outlook or your smartphone, are kept up to date when accessed via any other device</a:t>
            </a:r>
          </a:p>
          <a:p>
            <a:pPr fontAlgn="base"/>
            <a:r>
              <a:rPr lang="en-US" sz="5600" dirty="0"/>
              <a:t>Work offline when you travel: work on your email, change contacts, and schedule meetings even while disconnected from the internet. </a:t>
            </a:r>
            <a:r>
              <a:rPr lang="en-US" dirty="0"/>
              <a:t>.</a:t>
            </a:r>
          </a:p>
          <a:p>
            <a:endParaRPr lang="en-ZA" dirty="0"/>
          </a:p>
        </p:txBody>
      </p:sp>
      <p:sp>
        <p:nvSpPr>
          <p:cNvPr id="9" name="Rectangle 8">
            <a:extLst>
              <a:ext uri="{FF2B5EF4-FFF2-40B4-BE49-F238E27FC236}">
                <a16:creationId xmlns:a16="http://schemas.microsoft.com/office/drawing/2014/main" id="{EDB2D39F-B095-4935-8095-19D092726C2C}"/>
              </a:ext>
            </a:extLst>
          </p:cNvPr>
          <p:cNvSpPr/>
          <p:nvPr/>
        </p:nvSpPr>
        <p:spPr>
          <a:xfrm>
            <a:off x="386388" y="595317"/>
            <a:ext cx="6861881" cy="523220"/>
          </a:xfrm>
          <a:prstGeom prst="rect">
            <a:avLst/>
          </a:prstGeom>
          <a:solidFill>
            <a:srgbClr val="002060"/>
          </a:solidFill>
        </p:spPr>
        <p:txBody>
          <a:bodyPr wrap="square">
            <a:spAutoFit/>
          </a:bodyPr>
          <a:lstStyle/>
          <a:p>
            <a:r>
              <a:rPr lang="en-US" sz="2800" dirty="0">
                <a:solidFill>
                  <a:schemeClr val="bg1"/>
                </a:solidFill>
              </a:rPr>
              <a:t>H</a:t>
            </a:r>
            <a:r>
              <a:rPr lang="en-ZA" sz="2800" dirty="0">
                <a:solidFill>
                  <a:schemeClr val="bg1"/>
                </a:solidFill>
              </a:rPr>
              <a:t>osted Microsoft Exchange </a:t>
            </a:r>
          </a:p>
        </p:txBody>
      </p:sp>
      <p:pic>
        <p:nvPicPr>
          <p:cNvPr id="11" name="Content Placeholder 10">
            <a:extLst>
              <a:ext uri="{FF2B5EF4-FFF2-40B4-BE49-F238E27FC236}">
                <a16:creationId xmlns:a16="http://schemas.microsoft.com/office/drawing/2014/main" id="{08491AF8-4B77-4577-B795-5E73407F9546}"/>
              </a:ext>
            </a:extLst>
          </p:cNvPr>
          <p:cNvPicPr>
            <a:picLocks noGrp="1" noChangeAspect="1"/>
          </p:cNvPicPr>
          <p:nvPr>
            <p:ph sz="half" idx="2"/>
          </p:nvPr>
        </p:nvPicPr>
        <p:blipFill>
          <a:blip r:embed="rId2"/>
          <a:stretch>
            <a:fillRect/>
          </a:stretch>
        </p:blipFill>
        <p:spPr>
          <a:xfrm>
            <a:off x="5155460" y="2272222"/>
            <a:ext cx="4185618" cy="3713879"/>
          </a:xfrm>
        </p:spPr>
      </p:pic>
    </p:spTree>
    <p:extLst>
      <p:ext uri="{BB962C8B-B14F-4D97-AF65-F5344CB8AC3E}">
        <p14:creationId xmlns:p14="http://schemas.microsoft.com/office/powerpoint/2010/main" val="15066859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F8BF93B-DDEA-4A3F-9802-358641965F19}"/>
              </a:ext>
            </a:extLst>
          </p:cNvPr>
          <p:cNvSpPr/>
          <p:nvPr/>
        </p:nvSpPr>
        <p:spPr>
          <a:xfrm>
            <a:off x="346356" y="540768"/>
            <a:ext cx="6861881" cy="523220"/>
          </a:xfrm>
          <a:prstGeom prst="rect">
            <a:avLst/>
          </a:prstGeom>
          <a:solidFill>
            <a:srgbClr val="002060"/>
          </a:solidFill>
        </p:spPr>
        <p:txBody>
          <a:bodyPr wrap="square">
            <a:spAutoFit/>
          </a:bodyPr>
          <a:lstStyle/>
          <a:p>
            <a:r>
              <a:rPr lang="en-US" sz="2800" dirty="0">
                <a:solidFill>
                  <a:schemeClr val="bg1"/>
                </a:solidFill>
              </a:rPr>
              <a:t>SentinelOne</a:t>
            </a:r>
            <a:endParaRPr lang="en-ZA" sz="2800" dirty="0">
              <a:solidFill>
                <a:schemeClr val="bg1"/>
              </a:solidFill>
            </a:endParaRPr>
          </a:p>
        </p:txBody>
      </p:sp>
      <p:sp>
        <p:nvSpPr>
          <p:cNvPr id="9" name="Text Placeholder 5">
            <a:extLst>
              <a:ext uri="{FF2B5EF4-FFF2-40B4-BE49-F238E27FC236}">
                <a16:creationId xmlns:a16="http://schemas.microsoft.com/office/drawing/2014/main" id="{CB61F96E-3F5D-464D-A61A-DABDFD12675B}"/>
              </a:ext>
            </a:extLst>
          </p:cNvPr>
          <p:cNvSpPr>
            <a:spLocks noGrp="1"/>
          </p:cNvSpPr>
          <p:nvPr>
            <p:ph type="body" idx="1"/>
          </p:nvPr>
        </p:nvSpPr>
        <p:spPr>
          <a:xfrm>
            <a:off x="241584" y="1256017"/>
            <a:ext cx="9052453" cy="2861187"/>
          </a:xfrm>
        </p:spPr>
        <p:txBody>
          <a:bodyPr/>
          <a:lstStyle/>
          <a:p>
            <a:r>
              <a:rPr lang="en-US" sz="1400" dirty="0"/>
              <a:t>Today’s cyber attackers move fast. Fast enough that 1-10-60 has become an obsolete model for effective detection, investigation, and response. Singularity XDR is the only cybersecurity platform empowering modern enterprises to take autonomous, real-time</a:t>
            </a:r>
            <a:br>
              <a:rPr lang="en-US" sz="1400" dirty="0"/>
            </a:br>
            <a:r>
              <a:rPr lang="en-US" sz="1400" dirty="0"/>
              <a:t>action with greater visibility of their dynamic attack surface and</a:t>
            </a:r>
            <a:br>
              <a:rPr lang="en-US" sz="1400" dirty="0"/>
            </a:br>
            <a:r>
              <a:rPr lang="en-US" sz="1400" dirty="0"/>
              <a:t>cross-platform security analytics. </a:t>
            </a:r>
          </a:p>
          <a:p>
            <a:r>
              <a:rPr lang="en-US" sz="1400" dirty="0"/>
              <a:t>SentinelOne is fully managed in house by Sautech. </a:t>
            </a:r>
          </a:p>
          <a:p>
            <a:endParaRPr lang="en-US" sz="1400" dirty="0"/>
          </a:p>
          <a:p>
            <a:endParaRPr lang="en-US" sz="1400" dirty="0"/>
          </a:p>
          <a:p>
            <a:endParaRPr lang="en-US" sz="1400" dirty="0"/>
          </a:p>
          <a:p>
            <a:endParaRPr lang="en-ZA" sz="1400" dirty="0"/>
          </a:p>
        </p:txBody>
      </p:sp>
      <p:sp>
        <p:nvSpPr>
          <p:cNvPr id="10" name="Text Placeholder 6">
            <a:extLst>
              <a:ext uri="{FF2B5EF4-FFF2-40B4-BE49-F238E27FC236}">
                <a16:creationId xmlns:a16="http://schemas.microsoft.com/office/drawing/2014/main" id="{57260475-B325-4F15-B2C8-8C44627F54B3}"/>
              </a:ext>
            </a:extLst>
          </p:cNvPr>
          <p:cNvSpPr>
            <a:spLocks noGrp="1"/>
          </p:cNvSpPr>
          <p:nvPr>
            <p:ph type="body" sz="quarter" idx="3"/>
          </p:nvPr>
        </p:nvSpPr>
        <p:spPr>
          <a:xfrm>
            <a:off x="241584" y="2792065"/>
            <a:ext cx="4185618" cy="576262"/>
          </a:xfrm>
        </p:spPr>
        <p:txBody>
          <a:bodyPr/>
          <a:lstStyle/>
          <a:p>
            <a:r>
              <a:rPr lang="en-US" dirty="0">
                <a:solidFill>
                  <a:srgbClr val="002060"/>
                </a:solidFill>
              </a:rPr>
              <a:t>Three Reasons to Believe: </a:t>
            </a:r>
            <a:endParaRPr lang="en-ZA" dirty="0">
              <a:solidFill>
                <a:srgbClr val="002060"/>
              </a:solidFill>
            </a:endParaRPr>
          </a:p>
        </p:txBody>
      </p:sp>
      <p:sp>
        <p:nvSpPr>
          <p:cNvPr id="11" name="Content Placeholder 7">
            <a:extLst>
              <a:ext uri="{FF2B5EF4-FFF2-40B4-BE49-F238E27FC236}">
                <a16:creationId xmlns:a16="http://schemas.microsoft.com/office/drawing/2014/main" id="{534BB1DA-6FBA-4847-A3F6-9E92C4A26E3B}"/>
              </a:ext>
            </a:extLst>
          </p:cNvPr>
          <p:cNvSpPr txBox="1">
            <a:spLocks/>
          </p:cNvSpPr>
          <p:nvPr/>
        </p:nvSpPr>
        <p:spPr>
          <a:xfrm>
            <a:off x="246059" y="3446913"/>
            <a:ext cx="5303807" cy="104473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fontAlgn="base"/>
            <a:r>
              <a:rPr lang="en-US" sz="1400" dirty="0"/>
              <a:t>Best in Class Technology</a:t>
            </a:r>
          </a:p>
          <a:p>
            <a:pPr fontAlgn="base"/>
            <a:r>
              <a:rPr lang="en-US" sz="1400" dirty="0"/>
              <a:t>Industry Recognition &amp; Results </a:t>
            </a:r>
          </a:p>
          <a:p>
            <a:pPr fontAlgn="base"/>
            <a:r>
              <a:rPr lang="en-US" sz="1400" dirty="0"/>
              <a:t>Measurable Performance Advantage </a:t>
            </a:r>
          </a:p>
          <a:p>
            <a:endParaRPr lang="en-ZA" dirty="0"/>
          </a:p>
        </p:txBody>
      </p:sp>
      <p:sp>
        <p:nvSpPr>
          <p:cNvPr id="13" name="Text Placeholder 5">
            <a:extLst>
              <a:ext uri="{FF2B5EF4-FFF2-40B4-BE49-F238E27FC236}">
                <a16:creationId xmlns:a16="http://schemas.microsoft.com/office/drawing/2014/main" id="{1448EAD3-B351-4106-A729-9CE5F75F0908}"/>
              </a:ext>
            </a:extLst>
          </p:cNvPr>
          <p:cNvSpPr txBox="1">
            <a:spLocks/>
          </p:cNvSpPr>
          <p:nvPr/>
        </p:nvSpPr>
        <p:spPr>
          <a:xfrm>
            <a:off x="241584" y="4936095"/>
            <a:ext cx="9052453" cy="1458759"/>
          </a:xfrm>
          <a:prstGeom prst="rect">
            <a:avLst/>
          </a:prstGeom>
        </p:spPr>
        <p:txBody>
          <a:bodyPr vert="horz" lIns="91440" tIns="45720" rIns="91440" bIns="45720" rtlCol="0" anchor="b">
            <a:no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400" b="0" kern="1200">
                <a:solidFill>
                  <a:schemeClr val="tx1">
                    <a:lumMod val="75000"/>
                    <a:lumOff val="25000"/>
                  </a:schemeClr>
                </a:solidFill>
                <a:latin typeface="+mn-lt"/>
                <a:ea typeface="+mn-ea"/>
                <a:cs typeface="+mn-cs"/>
              </a:defRPr>
            </a:lvl1pPr>
            <a:lvl2pPr marL="45720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tx1">
                    <a:lumMod val="75000"/>
                    <a:lumOff val="25000"/>
                  </a:schemeClr>
                </a:solidFill>
                <a:latin typeface="+mn-lt"/>
                <a:ea typeface="+mn-ea"/>
                <a:cs typeface="+mn-cs"/>
              </a:defRPr>
            </a:lvl2pPr>
            <a:lvl3pPr marL="914400" indent="0" algn="l" defTabSz="457200" rtl="0" eaLnBrk="1" latinLnBrk="0" hangingPunct="1">
              <a:spcBef>
                <a:spcPts val="1000"/>
              </a:spcBef>
              <a:spcAft>
                <a:spcPts val="0"/>
              </a:spcAft>
              <a:buClr>
                <a:schemeClr val="accent1"/>
              </a:buClr>
              <a:buSzPct val="80000"/>
              <a:buFont typeface="Wingdings 3" charset="2"/>
              <a:buNone/>
              <a:defRPr sz="1800" b="1" kern="1200">
                <a:solidFill>
                  <a:schemeClr val="tx1">
                    <a:lumMod val="75000"/>
                    <a:lumOff val="25000"/>
                  </a:schemeClr>
                </a:solidFill>
                <a:latin typeface="+mn-lt"/>
                <a:ea typeface="+mn-ea"/>
                <a:cs typeface="+mn-cs"/>
              </a:defRPr>
            </a:lvl3pPr>
            <a:lvl4pPr marL="1371600" indent="0" algn="l" defTabSz="457200" rtl="0" eaLnBrk="1" latinLnBrk="0" hangingPunct="1">
              <a:spcBef>
                <a:spcPts val="1000"/>
              </a:spcBef>
              <a:spcAft>
                <a:spcPts val="0"/>
              </a:spcAft>
              <a:buClr>
                <a:schemeClr val="accent1"/>
              </a:buClr>
              <a:buSzPct val="80000"/>
              <a:buFont typeface="Wingdings 3" charset="2"/>
              <a:buNone/>
              <a:defRPr sz="1600" b="1" kern="1200">
                <a:solidFill>
                  <a:schemeClr val="tx1">
                    <a:lumMod val="75000"/>
                    <a:lumOff val="25000"/>
                  </a:schemeClr>
                </a:solidFill>
                <a:latin typeface="+mn-lt"/>
                <a:ea typeface="+mn-ea"/>
                <a:cs typeface="+mn-cs"/>
              </a:defRPr>
            </a:lvl4pPr>
            <a:lvl5pPr marL="1828800" indent="0" algn="l" defTabSz="457200" rtl="0" eaLnBrk="1" latinLnBrk="0" hangingPunct="1">
              <a:spcBef>
                <a:spcPts val="1000"/>
              </a:spcBef>
              <a:spcAft>
                <a:spcPts val="0"/>
              </a:spcAft>
              <a:buClr>
                <a:schemeClr val="accent1"/>
              </a:buClr>
              <a:buSzPct val="80000"/>
              <a:buFont typeface="Wingdings 3" charset="2"/>
              <a:buNone/>
              <a:defRPr sz="1600" b="1" kern="1200">
                <a:solidFill>
                  <a:schemeClr val="tx1">
                    <a:lumMod val="75000"/>
                    <a:lumOff val="25000"/>
                  </a:schemeClr>
                </a:solidFill>
                <a:latin typeface="+mn-lt"/>
                <a:ea typeface="+mn-ea"/>
                <a:cs typeface="+mn-cs"/>
              </a:defRPr>
            </a:lvl5pPr>
            <a:lvl6pPr marL="2286000" indent="0" algn="l" defTabSz="457200" rtl="0" eaLnBrk="1" latinLnBrk="0" hangingPunct="1">
              <a:spcBef>
                <a:spcPts val="1000"/>
              </a:spcBef>
              <a:spcAft>
                <a:spcPts val="0"/>
              </a:spcAft>
              <a:buClr>
                <a:schemeClr val="accent1"/>
              </a:buClr>
              <a:buSzPct val="80000"/>
              <a:buFont typeface="Wingdings 3" charset="2"/>
              <a:buNone/>
              <a:defRPr sz="1600" b="1" kern="1200">
                <a:solidFill>
                  <a:schemeClr val="tx1">
                    <a:lumMod val="75000"/>
                    <a:lumOff val="25000"/>
                  </a:schemeClr>
                </a:solidFill>
                <a:latin typeface="+mn-lt"/>
                <a:ea typeface="+mn-ea"/>
                <a:cs typeface="+mn-cs"/>
              </a:defRPr>
            </a:lvl6pPr>
            <a:lvl7pPr marL="2743200" indent="0" algn="l" defTabSz="457200" rtl="0" eaLnBrk="1" latinLnBrk="0" hangingPunct="1">
              <a:spcBef>
                <a:spcPts val="1000"/>
              </a:spcBef>
              <a:spcAft>
                <a:spcPts val="0"/>
              </a:spcAft>
              <a:buClr>
                <a:schemeClr val="accent1"/>
              </a:buClr>
              <a:buSzPct val="80000"/>
              <a:buFont typeface="Wingdings 3" charset="2"/>
              <a:buNone/>
              <a:defRPr sz="1600" b="1" kern="1200">
                <a:solidFill>
                  <a:schemeClr val="tx1">
                    <a:lumMod val="75000"/>
                    <a:lumOff val="25000"/>
                  </a:schemeClr>
                </a:solidFill>
                <a:latin typeface="+mn-lt"/>
                <a:ea typeface="+mn-ea"/>
                <a:cs typeface="+mn-cs"/>
              </a:defRPr>
            </a:lvl7pPr>
            <a:lvl8pPr marL="3200400" indent="0" algn="l" defTabSz="457200" rtl="0" eaLnBrk="1" latinLnBrk="0" hangingPunct="1">
              <a:spcBef>
                <a:spcPts val="1000"/>
              </a:spcBef>
              <a:spcAft>
                <a:spcPts val="0"/>
              </a:spcAft>
              <a:buClr>
                <a:schemeClr val="accent1"/>
              </a:buClr>
              <a:buSzPct val="80000"/>
              <a:buFont typeface="Wingdings 3" charset="2"/>
              <a:buNone/>
              <a:defRPr sz="1600" b="1" kern="1200">
                <a:solidFill>
                  <a:schemeClr val="tx1">
                    <a:lumMod val="75000"/>
                    <a:lumOff val="25000"/>
                  </a:schemeClr>
                </a:solidFill>
                <a:latin typeface="+mn-lt"/>
                <a:ea typeface="+mn-ea"/>
                <a:cs typeface="+mn-cs"/>
              </a:defRPr>
            </a:lvl8pPr>
            <a:lvl9pPr marL="3657600" indent="0" algn="l" defTabSz="457200" rtl="0" eaLnBrk="1" latinLnBrk="0" hangingPunct="1">
              <a:spcBef>
                <a:spcPts val="1000"/>
              </a:spcBef>
              <a:spcAft>
                <a:spcPts val="0"/>
              </a:spcAft>
              <a:buClr>
                <a:schemeClr val="accent1"/>
              </a:buClr>
              <a:buSzPct val="80000"/>
              <a:buFont typeface="Wingdings 3" charset="2"/>
              <a:buNone/>
              <a:defRPr sz="1600" b="1" kern="1200">
                <a:solidFill>
                  <a:schemeClr val="tx1">
                    <a:lumMod val="75000"/>
                    <a:lumOff val="25000"/>
                  </a:schemeClr>
                </a:solidFill>
                <a:latin typeface="+mn-lt"/>
                <a:ea typeface="+mn-ea"/>
                <a:cs typeface="+mn-cs"/>
              </a:defRPr>
            </a:lvl9pPr>
          </a:lstStyle>
          <a:p>
            <a:r>
              <a:rPr lang="en-US" sz="1400" dirty="0"/>
              <a:t>Key features include machine learning, real-time forensics, behavioral attack detection, and automated policy-base responses, along with complete visibility into all activity.</a:t>
            </a:r>
          </a:p>
          <a:p>
            <a:endParaRPr lang="en-US" sz="1400" dirty="0"/>
          </a:p>
          <a:p>
            <a:endParaRPr lang="en-US" sz="1400" dirty="0"/>
          </a:p>
          <a:p>
            <a:endParaRPr lang="en-ZA" sz="1400" dirty="0"/>
          </a:p>
        </p:txBody>
      </p:sp>
      <p:pic>
        <p:nvPicPr>
          <p:cNvPr id="15" name="Picture 14">
            <a:extLst>
              <a:ext uri="{FF2B5EF4-FFF2-40B4-BE49-F238E27FC236}">
                <a16:creationId xmlns:a16="http://schemas.microsoft.com/office/drawing/2014/main" id="{575F8D0E-9EB0-4DCB-92AB-C0F309812D2C}"/>
              </a:ext>
            </a:extLst>
          </p:cNvPr>
          <p:cNvPicPr>
            <a:picLocks noChangeAspect="1"/>
          </p:cNvPicPr>
          <p:nvPr/>
        </p:nvPicPr>
        <p:blipFill>
          <a:blip r:embed="rId2"/>
          <a:stretch>
            <a:fillRect/>
          </a:stretch>
        </p:blipFill>
        <p:spPr>
          <a:xfrm>
            <a:off x="2650769" y="5638531"/>
            <a:ext cx="5210175" cy="876300"/>
          </a:xfrm>
          <a:prstGeom prst="rect">
            <a:avLst/>
          </a:prstGeom>
        </p:spPr>
      </p:pic>
    </p:spTree>
    <p:extLst>
      <p:ext uri="{BB962C8B-B14F-4D97-AF65-F5344CB8AC3E}">
        <p14:creationId xmlns:p14="http://schemas.microsoft.com/office/powerpoint/2010/main" val="836731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5942EA6-82DF-4273-8146-3B8C4CEB7191}"/>
              </a:ext>
            </a:extLst>
          </p:cNvPr>
          <p:cNvSpPr/>
          <p:nvPr/>
        </p:nvSpPr>
        <p:spPr>
          <a:xfrm>
            <a:off x="346356" y="540768"/>
            <a:ext cx="6861881" cy="523220"/>
          </a:xfrm>
          <a:prstGeom prst="rect">
            <a:avLst/>
          </a:prstGeom>
          <a:solidFill>
            <a:srgbClr val="002060"/>
          </a:solidFill>
        </p:spPr>
        <p:txBody>
          <a:bodyPr wrap="square">
            <a:spAutoFit/>
          </a:bodyPr>
          <a:lstStyle/>
          <a:p>
            <a:r>
              <a:rPr lang="en-US" sz="2800" dirty="0">
                <a:solidFill>
                  <a:schemeClr val="bg1"/>
                </a:solidFill>
              </a:rPr>
              <a:t>SpamTitan</a:t>
            </a:r>
            <a:endParaRPr lang="en-ZA" sz="2800" dirty="0">
              <a:solidFill>
                <a:schemeClr val="bg1"/>
              </a:solidFill>
            </a:endParaRPr>
          </a:p>
        </p:txBody>
      </p:sp>
      <p:pic>
        <p:nvPicPr>
          <p:cNvPr id="9" name="Picture 8">
            <a:extLst>
              <a:ext uri="{FF2B5EF4-FFF2-40B4-BE49-F238E27FC236}">
                <a16:creationId xmlns:a16="http://schemas.microsoft.com/office/drawing/2014/main" id="{6A63742C-2B7A-4B65-BFD7-0E098FD8D723}"/>
              </a:ext>
            </a:extLst>
          </p:cNvPr>
          <p:cNvPicPr>
            <a:picLocks noChangeAspect="1"/>
          </p:cNvPicPr>
          <p:nvPr/>
        </p:nvPicPr>
        <p:blipFill>
          <a:blip r:embed="rId2"/>
          <a:stretch>
            <a:fillRect/>
          </a:stretch>
        </p:blipFill>
        <p:spPr>
          <a:xfrm>
            <a:off x="3468938" y="5452931"/>
            <a:ext cx="4152900" cy="1104900"/>
          </a:xfrm>
          <a:prstGeom prst="rect">
            <a:avLst/>
          </a:prstGeom>
        </p:spPr>
      </p:pic>
      <p:sp>
        <p:nvSpPr>
          <p:cNvPr id="12" name="Text Placeholder 6">
            <a:extLst>
              <a:ext uri="{FF2B5EF4-FFF2-40B4-BE49-F238E27FC236}">
                <a16:creationId xmlns:a16="http://schemas.microsoft.com/office/drawing/2014/main" id="{138AD93D-1DBA-47B4-8E1D-AD4002BEE4C2}"/>
              </a:ext>
            </a:extLst>
          </p:cNvPr>
          <p:cNvSpPr>
            <a:spLocks noGrp="1"/>
          </p:cNvSpPr>
          <p:nvPr>
            <p:ph type="body" sz="quarter" idx="3"/>
          </p:nvPr>
        </p:nvSpPr>
        <p:spPr>
          <a:xfrm>
            <a:off x="241584" y="2792065"/>
            <a:ext cx="4185618" cy="576262"/>
          </a:xfrm>
        </p:spPr>
        <p:txBody>
          <a:bodyPr/>
          <a:lstStyle/>
          <a:p>
            <a:r>
              <a:rPr lang="en-US" dirty="0">
                <a:solidFill>
                  <a:srgbClr val="002060"/>
                </a:solidFill>
              </a:rPr>
              <a:t>Features: </a:t>
            </a:r>
            <a:endParaRPr lang="en-ZA" dirty="0">
              <a:solidFill>
                <a:srgbClr val="002060"/>
              </a:solidFill>
            </a:endParaRPr>
          </a:p>
        </p:txBody>
      </p:sp>
      <p:sp>
        <p:nvSpPr>
          <p:cNvPr id="13" name="Content Placeholder 7">
            <a:extLst>
              <a:ext uri="{FF2B5EF4-FFF2-40B4-BE49-F238E27FC236}">
                <a16:creationId xmlns:a16="http://schemas.microsoft.com/office/drawing/2014/main" id="{B7D51751-BCF7-4C92-8A02-F0D104719FAC}"/>
              </a:ext>
            </a:extLst>
          </p:cNvPr>
          <p:cNvSpPr txBox="1">
            <a:spLocks/>
          </p:cNvSpPr>
          <p:nvPr/>
        </p:nvSpPr>
        <p:spPr>
          <a:xfrm>
            <a:off x="241581" y="3429000"/>
            <a:ext cx="5303807" cy="2090038"/>
          </a:xfrm>
          <a:prstGeom prst="rect">
            <a:avLst/>
          </a:prstGeom>
        </p:spPr>
        <p:txBody>
          <a:bodyPr vert="horz" lIns="91440" tIns="45720" rIns="91440" bIns="45720" rtlCol="0">
            <a:normAutofit fontScale="925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fontAlgn="base"/>
            <a:r>
              <a:rPr lang="en-US" sz="1500" dirty="0"/>
              <a:t>Advanced Phishing/Treat/Email Protection</a:t>
            </a:r>
          </a:p>
          <a:p>
            <a:pPr fontAlgn="base"/>
            <a:r>
              <a:rPr lang="en-US" sz="1500" dirty="0"/>
              <a:t>Proven Spam Solution </a:t>
            </a:r>
          </a:p>
          <a:p>
            <a:pPr fontAlgn="base"/>
            <a:r>
              <a:rPr lang="en-US" sz="1500" dirty="0"/>
              <a:t>Email Content Filtering</a:t>
            </a:r>
          </a:p>
          <a:p>
            <a:pPr fontAlgn="base"/>
            <a:r>
              <a:rPr lang="en-US" sz="1500" dirty="0"/>
              <a:t>Security against infected Attachments </a:t>
            </a:r>
          </a:p>
          <a:p>
            <a:pPr fontAlgn="base"/>
            <a:r>
              <a:rPr lang="en-US" sz="1500" dirty="0"/>
              <a:t>Spam Quarantine Reports </a:t>
            </a:r>
          </a:p>
          <a:p>
            <a:pPr fontAlgn="base"/>
            <a:r>
              <a:rPr lang="en-US" sz="1500" dirty="0"/>
              <a:t>Outbound Email Scanning </a:t>
            </a:r>
          </a:p>
          <a:p>
            <a:pPr fontAlgn="base"/>
            <a:r>
              <a:rPr lang="en-US" sz="1500" dirty="0"/>
              <a:t>Whitelisting, Blacklisting &amp; Greylisting </a:t>
            </a:r>
          </a:p>
          <a:p>
            <a:endParaRPr lang="en-ZA" dirty="0"/>
          </a:p>
        </p:txBody>
      </p:sp>
      <p:sp>
        <p:nvSpPr>
          <p:cNvPr id="25" name="Text Placeholder 5">
            <a:extLst>
              <a:ext uri="{FF2B5EF4-FFF2-40B4-BE49-F238E27FC236}">
                <a16:creationId xmlns:a16="http://schemas.microsoft.com/office/drawing/2014/main" id="{8CFB132E-E178-4ACE-8C06-FAE07131EFAC}"/>
              </a:ext>
            </a:extLst>
          </p:cNvPr>
          <p:cNvSpPr txBox="1">
            <a:spLocks/>
          </p:cNvSpPr>
          <p:nvPr/>
        </p:nvSpPr>
        <p:spPr>
          <a:xfrm>
            <a:off x="241581" y="1344396"/>
            <a:ext cx="9052453" cy="2270341"/>
          </a:xfrm>
          <a:prstGeom prst="rect">
            <a:avLst/>
          </a:prstGeom>
        </p:spPr>
        <p:txBody>
          <a:bodyPr vert="horz" lIns="91440" tIns="45720" rIns="91440" bIns="45720" rtlCol="0" anchor="b">
            <a:no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400" b="0" kern="1200">
                <a:solidFill>
                  <a:schemeClr val="tx1">
                    <a:lumMod val="75000"/>
                    <a:lumOff val="25000"/>
                  </a:schemeClr>
                </a:solidFill>
                <a:latin typeface="+mn-lt"/>
                <a:ea typeface="+mn-ea"/>
                <a:cs typeface="+mn-cs"/>
              </a:defRPr>
            </a:lvl1pPr>
            <a:lvl2pPr marL="45720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tx1">
                    <a:lumMod val="75000"/>
                    <a:lumOff val="25000"/>
                  </a:schemeClr>
                </a:solidFill>
                <a:latin typeface="+mn-lt"/>
                <a:ea typeface="+mn-ea"/>
                <a:cs typeface="+mn-cs"/>
              </a:defRPr>
            </a:lvl2pPr>
            <a:lvl3pPr marL="914400" indent="0" algn="l" defTabSz="457200" rtl="0" eaLnBrk="1" latinLnBrk="0" hangingPunct="1">
              <a:spcBef>
                <a:spcPts val="1000"/>
              </a:spcBef>
              <a:spcAft>
                <a:spcPts val="0"/>
              </a:spcAft>
              <a:buClr>
                <a:schemeClr val="accent1"/>
              </a:buClr>
              <a:buSzPct val="80000"/>
              <a:buFont typeface="Wingdings 3" charset="2"/>
              <a:buNone/>
              <a:defRPr sz="1800" b="1" kern="1200">
                <a:solidFill>
                  <a:schemeClr val="tx1">
                    <a:lumMod val="75000"/>
                    <a:lumOff val="25000"/>
                  </a:schemeClr>
                </a:solidFill>
                <a:latin typeface="+mn-lt"/>
                <a:ea typeface="+mn-ea"/>
                <a:cs typeface="+mn-cs"/>
              </a:defRPr>
            </a:lvl3pPr>
            <a:lvl4pPr marL="1371600" indent="0" algn="l" defTabSz="457200" rtl="0" eaLnBrk="1" latinLnBrk="0" hangingPunct="1">
              <a:spcBef>
                <a:spcPts val="1000"/>
              </a:spcBef>
              <a:spcAft>
                <a:spcPts val="0"/>
              </a:spcAft>
              <a:buClr>
                <a:schemeClr val="accent1"/>
              </a:buClr>
              <a:buSzPct val="80000"/>
              <a:buFont typeface="Wingdings 3" charset="2"/>
              <a:buNone/>
              <a:defRPr sz="1600" b="1" kern="1200">
                <a:solidFill>
                  <a:schemeClr val="tx1">
                    <a:lumMod val="75000"/>
                    <a:lumOff val="25000"/>
                  </a:schemeClr>
                </a:solidFill>
                <a:latin typeface="+mn-lt"/>
                <a:ea typeface="+mn-ea"/>
                <a:cs typeface="+mn-cs"/>
              </a:defRPr>
            </a:lvl4pPr>
            <a:lvl5pPr marL="1828800" indent="0" algn="l" defTabSz="457200" rtl="0" eaLnBrk="1" latinLnBrk="0" hangingPunct="1">
              <a:spcBef>
                <a:spcPts val="1000"/>
              </a:spcBef>
              <a:spcAft>
                <a:spcPts val="0"/>
              </a:spcAft>
              <a:buClr>
                <a:schemeClr val="accent1"/>
              </a:buClr>
              <a:buSzPct val="80000"/>
              <a:buFont typeface="Wingdings 3" charset="2"/>
              <a:buNone/>
              <a:defRPr sz="1600" b="1" kern="1200">
                <a:solidFill>
                  <a:schemeClr val="tx1">
                    <a:lumMod val="75000"/>
                    <a:lumOff val="25000"/>
                  </a:schemeClr>
                </a:solidFill>
                <a:latin typeface="+mn-lt"/>
                <a:ea typeface="+mn-ea"/>
                <a:cs typeface="+mn-cs"/>
              </a:defRPr>
            </a:lvl5pPr>
            <a:lvl6pPr marL="2286000" indent="0" algn="l" defTabSz="457200" rtl="0" eaLnBrk="1" latinLnBrk="0" hangingPunct="1">
              <a:spcBef>
                <a:spcPts val="1000"/>
              </a:spcBef>
              <a:spcAft>
                <a:spcPts val="0"/>
              </a:spcAft>
              <a:buClr>
                <a:schemeClr val="accent1"/>
              </a:buClr>
              <a:buSzPct val="80000"/>
              <a:buFont typeface="Wingdings 3" charset="2"/>
              <a:buNone/>
              <a:defRPr sz="1600" b="1" kern="1200">
                <a:solidFill>
                  <a:schemeClr val="tx1">
                    <a:lumMod val="75000"/>
                    <a:lumOff val="25000"/>
                  </a:schemeClr>
                </a:solidFill>
                <a:latin typeface="+mn-lt"/>
                <a:ea typeface="+mn-ea"/>
                <a:cs typeface="+mn-cs"/>
              </a:defRPr>
            </a:lvl6pPr>
            <a:lvl7pPr marL="2743200" indent="0" algn="l" defTabSz="457200" rtl="0" eaLnBrk="1" latinLnBrk="0" hangingPunct="1">
              <a:spcBef>
                <a:spcPts val="1000"/>
              </a:spcBef>
              <a:spcAft>
                <a:spcPts val="0"/>
              </a:spcAft>
              <a:buClr>
                <a:schemeClr val="accent1"/>
              </a:buClr>
              <a:buSzPct val="80000"/>
              <a:buFont typeface="Wingdings 3" charset="2"/>
              <a:buNone/>
              <a:defRPr sz="1600" b="1" kern="1200">
                <a:solidFill>
                  <a:schemeClr val="tx1">
                    <a:lumMod val="75000"/>
                    <a:lumOff val="25000"/>
                  </a:schemeClr>
                </a:solidFill>
                <a:latin typeface="+mn-lt"/>
                <a:ea typeface="+mn-ea"/>
                <a:cs typeface="+mn-cs"/>
              </a:defRPr>
            </a:lvl7pPr>
            <a:lvl8pPr marL="3200400" indent="0" algn="l" defTabSz="457200" rtl="0" eaLnBrk="1" latinLnBrk="0" hangingPunct="1">
              <a:spcBef>
                <a:spcPts val="1000"/>
              </a:spcBef>
              <a:spcAft>
                <a:spcPts val="0"/>
              </a:spcAft>
              <a:buClr>
                <a:schemeClr val="accent1"/>
              </a:buClr>
              <a:buSzPct val="80000"/>
              <a:buFont typeface="Wingdings 3" charset="2"/>
              <a:buNone/>
              <a:defRPr sz="1600" b="1" kern="1200">
                <a:solidFill>
                  <a:schemeClr val="tx1">
                    <a:lumMod val="75000"/>
                    <a:lumOff val="25000"/>
                  </a:schemeClr>
                </a:solidFill>
                <a:latin typeface="+mn-lt"/>
                <a:ea typeface="+mn-ea"/>
                <a:cs typeface="+mn-cs"/>
              </a:defRPr>
            </a:lvl8pPr>
            <a:lvl9pPr marL="3657600" indent="0" algn="l" defTabSz="457200" rtl="0" eaLnBrk="1" latinLnBrk="0" hangingPunct="1">
              <a:spcBef>
                <a:spcPts val="1000"/>
              </a:spcBef>
              <a:spcAft>
                <a:spcPts val="0"/>
              </a:spcAft>
              <a:buClr>
                <a:schemeClr val="accent1"/>
              </a:buClr>
              <a:buSzPct val="80000"/>
              <a:buFont typeface="Wingdings 3" charset="2"/>
              <a:buNone/>
              <a:defRPr sz="1600" b="1" kern="1200">
                <a:solidFill>
                  <a:schemeClr val="tx1">
                    <a:lumMod val="75000"/>
                    <a:lumOff val="25000"/>
                  </a:schemeClr>
                </a:solidFill>
                <a:latin typeface="+mn-lt"/>
                <a:ea typeface="+mn-ea"/>
                <a:cs typeface="+mn-cs"/>
              </a:defRPr>
            </a:lvl9pPr>
          </a:lstStyle>
          <a:p>
            <a:pPr fontAlgn="base"/>
            <a:r>
              <a:rPr lang="en-ZA" sz="1400" dirty="0"/>
              <a:t>What is SpamTitan? </a:t>
            </a:r>
          </a:p>
          <a:p>
            <a:pPr fontAlgn="base"/>
            <a:r>
              <a:rPr lang="en-ZA" sz="1400" dirty="0"/>
              <a:t>SpamTitan Email Security is an advanced email protection solution that blocks phishing, ransomware and malicious email threats. SpamTitan offers protection against malware, spear-phishing, advanced persistent threats (APTs), offering insights into new threats to help mitigate risks. SpamTitan Cloud requires no additional hardware or software.</a:t>
            </a:r>
          </a:p>
          <a:p>
            <a:endParaRPr lang="en-US" sz="1400" dirty="0"/>
          </a:p>
          <a:p>
            <a:endParaRPr lang="en-US" sz="1400" dirty="0"/>
          </a:p>
          <a:p>
            <a:endParaRPr lang="en-ZA" sz="1400" dirty="0"/>
          </a:p>
        </p:txBody>
      </p:sp>
    </p:spTree>
    <p:extLst>
      <p:ext uri="{BB962C8B-B14F-4D97-AF65-F5344CB8AC3E}">
        <p14:creationId xmlns:p14="http://schemas.microsoft.com/office/powerpoint/2010/main" val="25911416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B360E0C-9984-4087-8961-CADCB85C5D76}"/>
              </a:ext>
            </a:extLst>
          </p:cNvPr>
          <p:cNvSpPr txBox="1">
            <a:spLocks/>
          </p:cNvSpPr>
          <p:nvPr/>
        </p:nvSpPr>
        <p:spPr>
          <a:xfrm>
            <a:off x="330971" y="1286773"/>
            <a:ext cx="7767999" cy="5016939"/>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1400" dirty="0"/>
              <a:t>As the cyber insurance market continues to grow, it’s only natural to discuss its role in the battle against ransomware, which has been a prevalent topic in recent months, and other cyber-attacks. Most discussions highlight its value as a risk mitigation tool and its ability to respond to fast-evolving cyber threats, including ransomware.  Recently viewpoints have emerged that cyber insurance has served as an incentive for cyber extortion attacks.  The truth is that ransomware attacks occur for one reason only: criminals are succeeding.Cyber insurance can be a valuable tool in the fight against ransomware and other cyber threats. Fulfilling its traditional role, cyber insurance pools the insured that are similarly at risk to spread their potential losses.</a:t>
            </a:r>
            <a:endParaRPr lang="en-ZA" sz="1400" dirty="0"/>
          </a:p>
          <a:p>
            <a:pPr marL="0" indent="0">
              <a:buNone/>
            </a:pPr>
            <a:r>
              <a:rPr lang="en-US" sz="1400" dirty="0"/>
              <a:t>Sautech has partnered with IToo Namibia and South Africa to deliver a custom, affordable solution to the market.</a:t>
            </a:r>
            <a:endParaRPr lang="en-ZA" sz="1400" dirty="0"/>
          </a:p>
          <a:p>
            <a:pPr marL="0" indent="0">
              <a:buNone/>
            </a:pPr>
            <a:r>
              <a:rPr lang="en-US" sz="1400" dirty="0"/>
              <a:t>The Key requirements for the policy to take effect is: </a:t>
            </a:r>
            <a:endParaRPr lang="en-ZA" sz="1400" dirty="0"/>
          </a:p>
          <a:p>
            <a:pPr lvl="0"/>
            <a:r>
              <a:rPr lang="en-US" sz="1400" dirty="0"/>
              <a:t>Management of Infrastructure and Insurance devices to enforce compliance and Standards</a:t>
            </a:r>
            <a:endParaRPr lang="en-ZA" sz="1400" dirty="0"/>
          </a:p>
          <a:p>
            <a:pPr lvl="0"/>
            <a:r>
              <a:rPr lang="en-US" sz="1400" dirty="0"/>
              <a:t>SentinelOne Managed XDR</a:t>
            </a:r>
            <a:endParaRPr lang="en-ZA" sz="1400" dirty="0"/>
          </a:p>
          <a:p>
            <a:pPr lvl="0"/>
            <a:r>
              <a:rPr lang="en-US" sz="1400" dirty="0"/>
              <a:t>Backups within the Sautech Datacenters, encrypted with Sautech’s Standards and Procedures.</a:t>
            </a:r>
            <a:endParaRPr lang="en-ZA" sz="1400" dirty="0"/>
          </a:p>
          <a:p>
            <a:pPr lvl="1"/>
            <a:r>
              <a:rPr lang="en-US" sz="1400" dirty="0"/>
              <a:t>Backups that run daily and at most with a 7-day retention period.</a:t>
            </a:r>
            <a:endParaRPr lang="en-ZA" sz="1400" dirty="0"/>
          </a:p>
          <a:p>
            <a:pPr marL="0" indent="0" fontAlgn="base">
              <a:buNone/>
            </a:pPr>
            <a:endParaRPr lang="en-US" sz="1400" dirty="0"/>
          </a:p>
        </p:txBody>
      </p:sp>
      <p:sp>
        <p:nvSpPr>
          <p:cNvPr id="5" name="Rectangle 4">
            <a:extLst>
              <a:ext uri="{FF2B5EF4-FFF2-40B4-BE49-F238E27FC236}">
                <a16:creationId xmlns:a16="http://schemas.microsoft.com/office/drawing/2014/main" id="{AD3E629B-69F5-4F45-94B8-14CFFAA1F230}"/>
              </a:ext>
            </a:extLst>
          </p:cNvPr>
          <p:cNvSpPr/>
          <p:nvPr/>
        </p:nvSpPr>
        <p:spPr>
          <a:xfrm>
            <a:off x="330971" y="554288"/>
            <a:ext cx="6861881" cy="523220"/>
          </a:xfrm>
          <a:prstGeom prst="rect">
            <a:avLst/>
          </a:prstGeom>
          <a:solidFill>
            <a:srgbClr val="002060"/>
          </a:solidFill>
        </p:spPr>
        <p:txBody>
          <a:bodyPr wrap="square">
            <a:spAutoFit/>
          </a:bodyPr>
          <a:lstStyle/>
          <a:p>
            <a:r>
              <a:rPr lang="en-US" sz="2800" dirty="0">
                <a:solidFill>
                  <a:schemeClr val="bg1"/>
                </a:solidFill>
              </a:rPr>
              <a:t>Cyber Security</a:t>
            </a:r>
            <a:endParaRPr lang="en-ZA" sz="2800" dirty="0">
              <a:solidFill>
                <a:schemeClr val="bg1"/>
              </a:solidFill>
            </a:endParaRPr>
          </a:p>
        </p:txBody>
      </p:sp>
      <p:pic>
        <p:nvPicPr>
          <p:cNvPr id="21" name="Picture 20">
            <a:extLst>
              <a:ext uri="{FF2B5EF4-FFF2-40B4-BE49-F238E27FC236}">
                <a16:creationId xmlns:a16="http://schemas.microsoft.com/office/drawing/2014/main" id="{DF9AE644-88B0-4A4E-AAB3-F7ECFD1F1501}"/>
              </a:ext>
            </a:extLst>
          </p:cNvPr>
          <p:cNvPicPr>
            <a:picLocks noChangeAspect="1"/>
          </p:cNvPicPr>
          <p:nvPr/>
        </p:nvPicPr>
        <p:blipFill>
          <a:blip r:embed="rId2"/>
          <a:stretch>
            <a:fillRect/>
          </a:stretch>
        </p:blipFill>
        <p:spPr>
          <a:xfrm>
            <a:off x="7941592" y="2209797"/>
            <a:ext cx="2560325" cy="2438405"/>
          </a:xfrm>
          <a:prstGeom prst="rect">
            <a:avLst/>
          </a:prstGeom>
        </p:spPr>
      </p:pic>
    </p:spTree>
    <p:extLst>
      <p:ext uri="{BB962C8B-B14F-4D97-AF65-F5344CB8AC3E}">
        <p14:creationId xmlns:p14="http://schemas.microsoft.com/office/powerpoint/2010/main" val="11511218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9D766835-31CA-47AE-AE50-16CF1E31BCBF}"/>
              </a:ext>
            </a:extLst>
          </p:cNvPr>
          <p:cNvGraphicFramePr>
            <a:graphicFrameLocks noGrp="1"/>
          </p:cNvGraphicFramePr>
          <p:nvPr>
            <p:ph idx="1"/>
            <p:extLst>
              <p:ext uri="{D42A27DB-BD31-4B8C-83A1-F6EECF244321}">
                <p14:modId xmlns:p14="http://schemas.microsoft.com/office/powerpoint/2010/main" val="360747246"/>
              </p:ext>
            </p:extLst>
          </p:nvPr>
        </p:nvGraphicFramePr>
        <p:xfrm>
          <a:off x="306548" y="1943875"/>
          <a:ext cx="10767528" cy="3484880"/>
        </p:xfrm>
        <a:graphic>
          <a:graphicData uri="http://schemas.openxmlformats.org/drawingml/2006/table">
            <a:tbl>
              <a:tblPr firstRow="1" bandRow="1">
                <a:tableStyleId>{5C22544A-7EE6-4342-B048-85BDC9FD1C3A}</a:tableStyleId>
              </a:tblPr>
              <a:tblGrid>
                <a:gridCol w="2754728">
                  <a:extLst>
                    <a:ext uri="{9D8B030D-6E8A-4147-A177-3AD203B41FA5}">
                      <a16:colId xmlns:a16="http://schemas.microsoft.com/office/drawing/2014/main" val="256564697"/>
                    </a:ext>
                  </a:extLst>
                </a:gridCol>
                <a:gridCol w="1759674">
                  <a:extLst>
                    <a:ext uri="{9D8B030D-6E8A-4147-A177-3AD203B41FA5}">
                      <a16:colId xmlns:a16="http://schemas.microsoft.com/office/drawing/2014/main" val="3143860109"/>
                    </a:ext>
                  </a:extLst>
                </a:gridCol>
                <a:gridCol w="1529240">
                  <a:extLst>
                    <a:ext uri="{9D8B030D-6E8A-4147-A177-3AD203B41FA5}">
                      <a16:colId xmlns:a16="http://schemas.microsoft.com/office/drawing/2014/main" val="932853560"/>
                    </a:ext>
                  </a:extLst>
                </a:gridCol>
                <a:gridCol w="1602560">
                  <a:extLst>
                    <a:ext uri="{9D8B030D-6E8A-4147-A177-3AD203B41FA5}">
                      <a16:colId xmlns:a16="http://schemas.microsoft.com/office/drawing/2014/main" val="1727867100"/>
                    </a:ext>
                  </a:extLst>
                </a:gridCol>
                <a:gridCol w="1414024">
                  <a:extLst>
                    <a:ext uri="{9D8B030D-6E8A-4147-A177-3AD203B41FA5}">
                      <a16:colId xmlns:a16="http://schemas.microsoft.com/office/drawing/2014/main" val="2564236083"/>
                    </a:ext>
                  </a:extLst>
                </a:gridCol>
                <a:gridCol w="1707302">
                  <a:extLst>
                    <a:ext uri="{9D8B030D-6E8A-4147-A177-3AD203B41FA5}">
                      <a16:colId xmlns:a16="http://schemas.microsoft.com/office/drawing/2014/main" val="408943343"/>
                    </a:ext>
                  </a:extLst>
                </a:gridCol>
              </a:tblGrid>
              <a:tr h="370840">
                <a:tc rowSpan="2">
                  <a:txBody>
                    <a:bodyPr/>
                    <a:lstStyle/>
                    <a:p>
                      <a:pPr algn="ctr"/>
                      <a:r>
                        <a:rPr lang="en-US" sz="1400" dirty="0">
                          <a:solidFill>
                            <a:schemeClr val="tx1"/>
                          </a:solidFill>
                        </a:rPr>
                        <a:t>Annual Turnover</a:t>
                      </a:r>
                      <a:endParaRPr lang="en-ZA" sz="1400" dirty="0">
                        <a:solidFill>
                          <a:schemeClr val="tx1"/>
                        </a:solidFill>
                      </a:endParaRPr>
                    </a:p>
                  </a:txBody>
                  <a:tcPr>
                    <a:solidFill>
                      <a:schemeClr val="bg1">
                        <a:lumMod val="75000"/>
                      </a:schemeClr>
                    </a:solidFill>
                  </a:tcPr>
                </a:tc>
                <a:tc gridSpan="5">
                  <a:txBody>
                    <a:bodyPr/>
                    <a:lstStyle/>
                    <a:p>
                      <a:pPr algn="ctr"/>
                      <a:r>
                        <a:rPr lang="en-US" sz="1400" dirty="0">
                          <a:solidFill>
                            <a:schemeClr val="tx1"/>
                          </a:solidFill>
                        </a:rPr>
                        <a:t>Limit of Indemnity (per claim and in the annual aggregate)</a:t>
                      </a:r>
                      <a:endParaRPr lang="en-ZA" sz="1400" dirty="0">
                        <a:solidFill>
                          <a:schemeClr val="tx1"/>
                        </a:solidFill>
                      </a:endParaRPr>
                    </a:p>
                  </a:txBody>
                  <a:tcPr>
                    <a:solidFill>
                      <a:schemeClr val="bg1">
                        <a:lumMod val="75000"/>
                      </a:schemeClr>
                    </a:solidFill>
                  </a:tcPr>
                </a:tc>
                <a:tc hMerge="1">
                  <a:txBody>
                    <a:bodyPr/>
                    <a:lstStyle/>
                    <a:p>
                      <a:endParaRPr lang="en-ZA" dirty="0"/>
                    </a:p>
                  </a:txBody>
                  <a:tcPr/>
                </a:tc>
                <a:tc hMerge="1">
                  <a:txBody>
                    <a:bodyPr/>
                    <a:lstStyle/>
                    <a:p>
                      <a:endParaRPr lang="en-ZA" dirty="0"/>
                    </a:p>
                  </a:txBody>
                  <a:tcPr/>
                </a:tc>
                <a:tc hMerge="1">
                  <a:txBody>
                    <a:bodyPr/>
                    <a:lstStyle/>
                    <a:p>
                      <a:endParaRPr lang="en-ZA" dirty="0"/>
                    </a:p>
                  </a:txBody>
                  <a:tcPr/>
                </a:tc>
                <a:tc hMerge="1">
                  <a:txBody>
                    <a:bodyPr/>
                    <a:lstStyle/>
                    <a:p>
                      <a:endParaRPr lang="en-ZA" dirty="0"/>
                    </a:p>
                  </a:txBody>
                  <a:tcPr/>
                </a:tc>
                <a:extLst>
                  <a:ext uri="{0D108BD9-81ED-4DB2-BD59-A6C34878D82A}">
                    <a16:rowId xmlns:a16="http://schemas.microsoft.com/office/drawing/2014/main" val="2933378022"/>
                  </a:ext>
                </a:extLst>
              </a:tr>
              <a:tr h="370840">
                <a:tc vMerge="1">
                  <a:txBody>
                    <a:bodyPr/>
                    <a:lstStyle/>
                    <a:p>
                      <a:endParaRPr lang="en-ZA" dirty="0"/>
                    </a:p>
                  </a:txBody>
                  <a:tcPr/>
                </a:tc>
                <a:tc>
                  <a:txBody>
                    <a:bodyPr/>
                    <a:lstStyle/>
                    <a:p>
                      <a:r>
                        <a:rPr lang="en-US" sz="1400" dirty="0"/>
                        <a:t>*Deductible </a:t>
                      </a:r>
                      <a:endParaRPr lang="en-ZA" sz="1400" dirty="0"/>
                    </a:p>
                  </a:txBody>
                  <a:tcPr>
                    <a:solidFill>
                      <a:schemeClr val="bg1">
                        <a:lumMod val="75000"/>
                      </a:schemeClr>
                    </a:solidFill>
                  </a:tcPr>
                </a:tc>
                <a:tc>
                  <a:txBody>
                    <a:bodyPr/>
                    <a:lstStyle/>
                    <a:p>
                      <a:r>
                        <a:rPr lang="en-US" sz="1400" dirty="0"/>
                        <a:t>R250 000</a:t>
                      </a:r>
                      <a:endParaRPr lang="en-ZA" sz="1400" dirty="0"/>
                    </a:p>
                  </a:txBody>
                  <a:tcPr>
                    <a:solidFill>
                      <a:schemeClr val="bg1">
                        <a:lumMod val="75000"/>
                      </a:schemeClr>
                    </a:solidFill>
                  </a:tcPr>
                </a:tc>
                <a:tc>
                  <a:txBody>
                    <a:bodyPr/>
                    <a:lstStyle/>
                    <a:p>
                      <a:r>
                        <a:rPr lang="en-US" sz="1400" dirty="0"/>
                        <a:t>R500 000</a:t>
                      </a:r>
                      <a:endParaRPr lang="en-ZA" sz="1400" dirty="0"/>
                    </a:p>
                  </a:txBody>
                  <a:tcPr>
                    <a:solidFill>
                      <a:schemeClr val="bg1">
                        <a:lumMod val="7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dirty="0"/>
                        <a:t>*Deductible </a:t>
                      </a:r>
                      <a:endParaRPr lang="en-ZA" sz="1400" dirty="0"/>
                    </a:p>
                    <a:p>
                      <a:endParaRPr lang="en-ZA" sz="1400" dirty="0"/>
                    </a:p>
                  </a:txBody>
                  <a:tcPr>
                    <a:solidFill>
                      <a:schemeClr val="bg1">
                        <a:lumMod val="75000"/>
                      </a:schemeClr>
                    </a:solidFill>
                  </a:tcPr>
                </a:tc>
                <a:tc>
                  <a:txBody>
                    <a:bodyPr/>
                    <a:lstStyle/>
                    <a:p>
                      <a:r>
                        <a:rPr lang="en-US" sz="1400" dirty="0"/>
                        <a:t>R1 000 000</a:t>
                      </a:r>
                      <a:endParaRPr lang="en-ZA" sz="1400" dirty="0"/>
                    </a:p>
                  </a:txBody>
                  <a:tcPr>
                    <a:solidFill>
                      <a:schemeClr val="bg1">
                        <a:lumMod val="75000"/>
                      </a:schemeClr>
                    </a:solidFill>
                  </a:tcPr>
                </a:tc>
                <a:extLst>
                  <a:ext uri="{0D108BD9-81ED-4DB2-BD59-A6C34878D82A}">
                    <a16:rowId xmlns:a16="http://schemas.microsoft.com/office/drawing/2014/main" val="2435662758"/>
                  </a:ext>
                </a:extLst>
              </a:tr>
              <a:tr h="370840">
                <a:tc>
                  <a:txBody>
                    <a:bodyPr/>
                    <a:lstStyle/>
                    <a:p>
                      <a:pPr algn="l"/>
                      <a:r>
                        <a:rPr lang="en-ZA" sz="1400" b="0" i="0" u="none" strike="noStrike" kern="1200" baseline="0" dirty="0">
                          <a:solidFill>
                            <a:schemeClr val="dk1"/>
                          </a:solidFill>
                          <a:latin typeface="+mn-lt"/>
                          <a:ea typeface="+mn-ea"/>
                          <a:cs typeface="+mn-cs"/>
                        </a:rPr>
                        <a:t>R0 – R10 000 000</a:t>
                      </a:r>
                      <a:endParaRPr lang="en-ZA" sz="1400" dirty="0"/>
                    </a:p>
                  </a:txBody>
                  <a:tcPr/>
                </a:tc>
                <a:tc>
                  <a:txBody>
                    <a:bodyPr/>
                    <a:lstStyle/>
                    <a:p>
                      <a:pPr algn="l"/>
                      <a:r>
                        <a:rPr lang="en-US" sz="1400" dirty="0"/>
                        <a:t>2 500.00</a:t>
                      </a:r>
                    </a:p>
                  </a:txBody>
                  <a:tcPr/>
                </a:tc>
                <a:tc>
                  <a:txBody>
                    <a:bodyPr/>
                    <a:lstStyle/>
                    <a:p>
                      <a:pPr algn="l"/>
                      <a:r>
                        <a:rPr lang="en-US" sz="1400" dirty="0"/>
                        <a:t>1 915.00</a:t>
                      </a:r>
                      <a:endParaRPr lang="en-ZA" sz="1400" dirty="0"/>
                    </a:p>
                  </a:txBody>
                  <a:tcPr/>
                </a:tc>
                <a:tc>
                  <a:txBody>
                    <a:bodyPr/>
                    <a:lstStyle/>
                    <a:p>
                      <a:pPr algn="l"/>
                      <a:r>
                        <a:rPr lang="en-US" sz="1400" dirty="0"/>
                        <a:t>2 835.00</a:t>
                      </a:r>
                      <a:endParaRPr lang="en-ZA" sz="1400" dirty="0"/>
                    </a:p>
                  </a:txBody>
                  <a:tcPr/>
                </a:tc>
                <a:tc>
                  <a:txBody>
                    <a:bodyPr/>
                    <a:lstStyle/>
                    <a:p>
                      <a:pPr algn="l"/>
                      <a:r>
                        <a:rPr lang="en-US" sz="1400" dirty="0"/>
                        <a:t>5 000.00</a:t>
                      </a:r>
                      <a:endParaRPr lang="en-ZA" sz="1400" dirty="0"/>
                    </a:p>
                  </a:txBody>
                  <a:tcPr/>
                </a:tc>
                <a:tc>
                  <a:txBody>
                    <a:bodyPr/>
                    <a:lstStyle/>
                    <a:p>
                      <a:pPr algn="l"/>
                      <a:r>
                        <a:rPr lang="en-US" sz="1400" dirty="0"/>
                        <a:t>4 225.00</a:t>
                      </a:r>
                    </a:p>
                  </a:txBody>
                  <a:tcPr/>
                </a:tc>
                <a:extLst>
                  <a:ext uri="{0D108BD9-81ED-4DB2-BD59-A6C34878D82A}">
                    <a16:rowId xmlns:a16="http://schemas.microsoft.com/office/drawing/2014/main" val="4253631302"/>
                  </a:ext>
                </a:extLst>
              </a:tr>
              <a:tr h="370840">
                <a:tc>
                  <a:txBody>
                    <a:bodyPr/>
                    <a:lstStyle/>
                    <a:p>
                      <a:pPr algn="l"/>
                      <a:r>
                        <a:rPr lang="pt-BR" sz="1400" b="0" i="0" u="none" strike="noStrike" kern="1200" baseline="0" dirty="0">
                          <a:solidFill>
                            <a:schemeClr val="dk1"/>
                          </a:solidFill>
                          <a:latin typeface="+mn-lt"/>
                          <a:ea typeface="+mn-ea"/>
                          <a:cs typeface="+mn-cs"/>
                        </a:rPr>
                        <a:t>R10 000 001 – R25 000 000</a:t>
                      </a:r>
                      <a:endParaRPr lang="en-ZA" sz="1400" dirty="0"/>
                    </a:p>
                  </a:txBody>
                  <a:tcPr/>
                </a:tc>
                <a:tc>
                  <a:txBody>
                    <a:bodyPr/>
                    <a:lstStyle/>
                    <a:p>
                      <a:pPr algn="l"/>
                      <a:r>
                        <a:rPr lang="en-US" sz="1400" dirty="0"/>
                        <a:t>2 500.00</a:t>
                      </a:r>
                      <a:endParaRPr lang="en-ZA" sz="1400" dirty="0"/>
                    </a:p>
                  </a:txBody>
                  <a:tcPr/>
                </a:tc>
                <a:tc>
                  <a:txBody>
                    <a:bodyPr/>
                    <a:lstStyle/>
                    <a:p>
                      <a:pPr algn="l"/>
                      <a:r>
                        <a:rPr lang="en-US" sz="1400" dirty="0"/>
                        <a:t>2 180.00</a:t>
                      </a:r>
                      <a:endParaRPr lang="en-ZA" sz="1400" dirty="0"/>
                    </a:p>
                  </a:txBody>
                  <a:tcPr/>
                </a:tc>
                <a:tc>
                  <a:txBody>
                    <a:bodyPr/>
                    <a:lstStyle/>
                    <a:p>
                      <a:pPr algn="l"/>
                      <a:r>
                        <a:rPr lang="en-US" sz="1400" dirty="0"/>
                        <a:t>3 235.00</a:t>
                      </a:r>
                      <a:endParaRPr lang="en-ZA" sz="1400" dirty="0"/>
                    </a:p>
                  </a:txBody>
                  <a:tcPr/>
                </a:tc>
                <a:tc>
                  <a:txBody>
                    <a:bodyPr/>
                    <a:lstStyle/>
                    <a:p>
                      <a:pPr algn="l"/>
                      <a:r>
                        <a:rPr lang="en-US" sz="1400" dirty="0"/>
                        <a:t>8 500.00</a:t>
                      </a:r>
                      <a:endParaRPr lang="en-ZA" sz="1400" dirty="0"/>
                    </a:p>
                  </a:txBody>
                  <a:tcPr/>
                </a:tc>
                <a:tc>
                  <a:txBody>
                    <a:bodyPr/>
                    <a:lstStyle/>
                    <a:p>
                      <a:pPr algn="l"/>
                      <a:r>
                        <a:rPr lang="en-US" sz="1400" dirty="0"/>
                        <a:t>4 950.00</a:t>
                      </a:r>
                      <a:endParaRPr lang="en-ZA" sz="1400" dirty="0"/>
                    </a:p>
                  </a:txBody>
                  <a:tcPr/>
                </a:tc>
                <a:extLst>
                  <a:ext uri="{0D108BD9-81ED-4DB2-BD59-A6C34878D82A}">
                    <a16:rowId xmlns:a16="http://schemas.microsoft.com/office/drawing/2014/main" val="1578789881"/>
                  </a:ext>
                </a:extLst>
              </a:tr>
              <a:tr h="370840">
                <a:tc>
                  <a:txBody>
                    <a:bodyPr/>
                    <a:lstStyle/>
                    <a:p>
                      <a:pPr algn="l"/>
                      <a:r>
                        <a:rPr lang="pt-BR" sz="1400" b="0" i="0" u="none" strike="noStrike" kern="1200" baseline="0" dirty="0">
                          <a:solidFill>
                            <a:schemeClr val="dk1"/>
                          </a:solidFill>
                          <a:latin typeface="+mn-lt"/>
                          <a:ea typeface="+mn-ea"/>
                          <a:cs typeface="+mn-cs"/>
                        </a:rPr>
                        <a:t>R25 000 001 – R50 000 000</a:t>
                      </a:r>
                      <a:endParaRPr lang="en-ZA" sz="1400" dirty="0"/>
                    </a:p>
                  </a:txBody>
                  <a:tcPr/>
                </a:tc>
                <a:tc>
                  <a:txBody>
                    <a:bodyPr/>
                    <a:lstStyle/>
                    <a:p>
                      <a:pPr algn="l"/>
                      <a:r>
                        <a:rPr lang="en-US" sz="1400" dirty="0"/>
                        <a:t>10 000.00</a:t>
                      </a:r>
                      <a:endParaRPr lang="en-ZA" sz="1400" dirty="0"/>
                    </a:p>
                  </a:txBody>
                  <a:tcPr/>
                </a:tc>
                <a:tc>
                  <a:txBody>
                    <a:bodyPr/>
                    <a:lstStyle/>
                    <a:p>
                      <a:pPr algn="l"/>
                      <a:r>
                        <a:rPr lang="en-US" sz="1400" dirty="0"/>
                        <a:t>2 835.00</a:t>
                      </a:r>
                      <a:endParaRPr lang="en-ZA" sz="1400" dirty="0"/>
                    </a:p>
                  </a:txBody>
                  <a:tcPr/>
                </a:tc>
                <a:tc>
                  <a:txBody>
                    <a:bodyPr/>
                    <a:lstStyle/>
                    <a:p>
                      <a:pPr algn="l"/>
                      <a:r>
                        <a:rPr lang="en-US" sz="1400" dirty="0"/>
                        <a:t>4 225.00</a:t>
                      </a:r>
                      <a:endParaRPr lang="en-ZA" sz="1400" dirty="0"/>
                    </a:p>
                  </a:txBody>
                  <a:tcPr/>
                </a:tc>
                <a:tc>
                  <a:txBody>
                    <a:bodyPr/>
                    <a:lstStyle/>
                    <a:p>
                      <a:pPr algn="l"/>
                      <a:r>
                        <a:rPr lang="en-US" sz="1400" dirty="0"/>
                        <a:t>15 000.00</a:t>
                      </a:r>
                      <a:endParaRPr lang="en-ZA" sz="1400" dirty="0"/>
                    </a:p>
                  </a:txBody>
                  <a:tcPr/>
                </a:tc>
                <a:tc>
                  <a:txBody>
                    <a:bodyPr/>
                    <a:lstStyle/>
                    <a:p>
                      <a:pPr algn="l"/>
                      <a:r>
                        <a:rPr lang="en-US" sz="1400" dirty="0"/>
                        <a:t>6 405.00</a:t>
                      </a:r>
                      <a:endParaRPr lang="en-ZA" sz="1400" dirty="0"/>
                    </a:p>
                  </a:txBody>
                  <a:tcPr/>
                </a:tc>
                <a:extLst>
                  <a:ext uri="{0D108BD9-81ED-4DB2-BD59-A6C34878D82A}">
                    <a16:rowId xmlns:a16="http://schemas.microsoft.com/office/drawing/2014/main" val="3730664648"/>
                  </a:ext>
                </a:extLst>
              </a:tr>
              <a:tr h="370840">
                <a:tc>
                  <a:txBody>
                    <a:bodyPr/>
                    <a:lstStyle/>
                    <a:p>
                      <a:pPr algn="l"/>
                      <a:r>
                        <a:rPr lang="pt-BR" sz="1400" b="0" i="0" u="none" strike="noStrike" kern="1200" baseline="0" dirty="0">
                          <a:solidFill>
                            <a:schemeClr val="dk1"/>
                          </a:solidFill>
                          <a:latin typeface="+mn-lt"/>
                          <a:ea typeface="+mn-ea"/>
                          <a:cs typeface="+mn-cs"/>
                        </a:rPr>
                        <a:t>R50 000 001 – R75 000 000</a:t>
                      </a:r>
                      <a:endParaRPr lang="en-ZA" sz="1400" dirty="0"/>
                    </a:p>
                  </a:txBody>
                  <a:tcPr/>
                </a:tc>
                <a:tc>
                  <a:txBody>
                    <a:bodyPr/>
                    <a:lstStyle/>
                    <a:p>
                      <a:pPr algn="l"/>
                      <a:r>
                        <a:rPr lang="en-US" sz="1400" dirty="0"/>
                        <a:t>15 000.00</a:t>
                      </a:r>
                      <a:endParaRPr lang="en-ZA" sz="1400" dirty="0"/>
                    </a:p>
                  </a:txBody>
                  <a:tcPr/>
                </a:tc>
                <a:tc>
                  <a:txBody>
                    <a:bodyPr/>
                    <a:lstStyle/>
                    <a:p>
                      <a:pPr algn="l"/>
                      <a:r>
                        <a:rPr lang="en-US" sz="1400" dirty="0"/>
                        <a:t>3 300.00</a:t>
                      </a:r>
                      <a:endParaRPr lang="en-ZA" sz="1400" dirty="0"/>
                    </a:p>
                  </a:txBody>
                  <a:tcPr/>
                </a:tc>
                <a:tc>
                  <a:txBody>
                    <a:bodyPr/>
                    <a:lstStyle/>
                    <a:p>
                      <a:pPr algn="l"/>
                      <a:r>
                        <a:rPr lang="en-US" sz="1400" dirty="0"/>
                        <a:t>5 015.00</a:t>
                      </a:r>
                      <a:endParaRPr lang="en-ZA" sz="1400" dirty="0"/>
                    </a:p>
                  </a:txBody>
                  <a:tcPr/>
                </a:tc>
                <a:tc>
                  <a:txBody>
                    <a:bodyPr/>
                    <a:lstStyle/>
                    <a:p>
                      <a:pPr algn="l"/>
                      <a:r>
                        <a:rPr lang="en-US" sz="1400" dirty="0"/>
                        <a:t>25 000.00</a:t>
                      </a:r>
                      <a:endParaRPr lang="en-ZA" sz="1400" dirty="0"/>
                    </a:p>
                  </a:txBody>
                  <a:tcPr/>
                </a:tc>
                <a:tc>
                  <a:txBody>
                    <a:bodyPr/>
                    <a:lstStyle/>
                    <a:p>
                      <a:pPr algn="l"/>
                      <a:r>
                        <a:rPr lang="en-US" sz="1400" dirty="0"/>
                        <a:t>7 595.00</a:t>
                      </a:r>
                      <a:endParaRPr lang="en-ZA" sz="1400" dirty="0"/>
                    </a:p>
                  </a:txBody>
                  <a:tcPr/>
                </a:tc>
                <a:extLst>
                  <a:ext uri="{0D108BD9-81ED-4DB2-BD59-A6C34878D82A}">
                    <a16:rowId xmlns:a16="http://schemas.microsoft.com/office/drawing/2014/main" val="2492692958"/>
                  </a:ext>
                </a:extLst>
              </a:tr>
              <a:tr h="370840">
                <a:tc>
                  <a:txBody>
                    <a:bodyPr/>
                    <a:lstStyle/>
                    <a:p>
                      <a:pPr algn="l"/>
                      <a:r>
                        <a:rPr lang="pt-BR" sz="1400" b="0" i="0" u="none" strike="noStrike" kern="1200" baseline="0" dirty="0">
                          <a:solidFill>
                            <a:schemeClr val="dk1"/>
                          </a:solidFill>
                          <a:latin typeface="+mn-lt"/>
                          <a:ea typeface="+mn-ea"/>
                          <a:cs typeface="+mn-cs"/>
                        </a:rPr>
                        <a:t>R75 000 001 – R100 000 000</a:t>
                      </a:r>
                      <a:endParaRPr lang="en-ZA" sz="1400" dirty="0"/>
                    </a:p>
                  </a:txBody>
                  <a:tcPr/>
                </a:tc>
                <a:tc>
                  <a:txBody>
                    <a:bodyPr/>
                    <a:lstStyle/>
                    <a:p>
                      <a:pPr algn="l"/>
                      <a:r>
                        <a:rPr lang="en-US" sz="1400" dirty="0"/>
                        <a:t>15 000.00</a:t>
                      </a:r>
                      <a:endParaRPr lang="en-ZA" sz="1400" dirty="0"/>
                    </a:p>
                  </a:txBody>
                  <a:tcPr/>
                </a:tc>
                <a:tc>
                  <a:txBody>
                    <a:bodyPr/>
                    <a:lstStyle/>
                    <a:p>
                      <a:pPr algn="l"/>
                      <a:r>
                        <a:rPr lang="en-US" sz="1400" dirty="0"/>
                        <a:t>3 695.00</a:t>
                      </a:r>
                      <a:endParaRPr lang="en-ZA" sz="1400" dirty="0"/>
                    </a:p>
                  </a:txBody>
                  <a:tcPr/>
                </a:tc>
                <a:tc>
                  <a:txBody>
                    <a:bodyPr/>
                    <a:lstStyle/>
                    <a:p>
                      <a:pPr algn="l"/>
                      <a:r>
                        <a:rPr lang="en-US" sz="1400" dirty="0"/>
                        <a:t>5 475.00</a:t>
                      </a:r>
                      <a:endParaRPr lang="en-ZA" sz="1400" dirty="0"/>
                    </a:p>
                  </a:txBody>
                  <a:tcPr/>
                </a:tc>
                <a:tc>
                  <a:txBody>
                    <a:bodyPr/>
                    <a:lstStyle/>
                    <a:p>
                      <a:pPr algn="l"/>
                      <a:r>
                        <a:rPr lang="en-US" sz="1400" dirty="0"/>
                        <a:t>25 000.00</a:t>
                      </a:r>
                      <a:endParaRPr lang="en-ZA" sz="1400" dirty="0"/>
                    </a:p>
                  </a:txBody>
                  <a:tcPr/>
                </a:tc>
                <a:tc>
                  <a:txBody>
                    <a:bodyPr/>
                    <a:lstStyle/>
                    <a:p>
                      <a:pPr algn="l"/>
                      <a:r>
                        <a:rPr lang="en-US" sz="1400" dirty="0"/>
                        <a:t>8 450.00</a:t>
                      </a:r>
                      <a:endParaRPr lang="en-ZA" sz="1400" dirty="0"/>
                    </a:p>
                  </a:txBody>
                  <a:tcPr/>
                </a:tc>
                <a:extLst>
                  <a:ext uri="{0D108BD9-81ED-4DB2-BD59-A6C34878D82A}">
                    <a16:rowId xmlns:a16="http://schemas.microsoft.com/office/drawing/2014/main" val="3253652387"/>
                  </a:ext>
                </a:extLst>
              </a:tr>
              <a:tr h="370840">
                <a:tc>
                  <a:txBody>
                    <a:bodyPr/>
                    <a:lstStyle/>
                    <a:p>
                      <a:pPr algn="l"/>
                      <a:r>
                        <a:rPr lang="pt-BR" sz="1400" b="0" i="0" u="none" strike="noStrike" kern="1200" baseline="0" dirty="0">
                          <a:solidFill>
                            <a:schemeClr val="dk1"/>
                          </a:solidFill>
                          <a:latin typeface="+mn-lt"/>
                          <a:ea typeface="+mn-ea"/>
                          <a:cs typeface="+mn-cs"/>
                        </a:rPr>
                        <a:t>R100 000 001 – R150 000 000</a:t>
                      </a:r>
                      <a:endParaRPr lang="en-ZA" sz="1400" dirty="0"/>
                    </a:p>
                  </a:txBody>
                  <a:tcPr/>
                </a:tc>
                <a:tc>
                  <a:txBody>
                    <a:bodyPr/>
                    <a:lstStyle/>
                    <a:p>
                      <a:pPr algn="l"/>
                      <a:r>
                        <a:rPr lang="en-US" sz="1400" dirty="0"/>
                        <a:t>25 000.00</a:t>
                      </a:r>
                      <a:endParaRPr lang="en-ZA" sz="1400" dirty="0"/>
                    </a:p>
                  </a:txBody>
                  <a:tcPr/>
                </a:tc>
                <a:tc>
                  <a:txBody>
                    <a:bodyPr/>
                    <a:lstStyle/>
                    <a:p>
                      <a:pPr algn="l"/>
                      <a:r>
                        <a:rPr lang="en-US" sz="1400" dirty="0"/>
                        <a:t>4 175.00</a:t>
                      </a:r>
                      <a:endParaRPr lang="en-ZA" sz="1400" dirty="0"/>
                    </a:p>
                  </a:txBody>
                  <a:tcPr/>
                </a:tc>
                <a:tc>
                  <a:txBody>
                    <a:bodyPr/>
                    <a:lstStyle/>
                    <a:p>
                      <a:pPr algn="l"/>
                      <a:r>
                        <a:rPr lang="en-US" sz="1400" dirty="0"/>
                        <a:t>6 125.00</a:t>
                      </a:r>
                      <a:endParaRPr lang="en-ZA" sz="1400" dirty="0"/>
                    </a:p>
                  </a:txBody>
                  <a:tcPr/>
                </a:tc>
                <a:tc>
                  <a:txBody>
                    <a:bodyPr/>
                    <a:lstStyle/>
                    <a:p>
                      <a:pPr algn="l"/>
                      <a:r>
                        <a:rPr lang="en-US" sz="1400" dirty="0"/>
                        <a:t>35 000.00</a:t>
                      </a:r>
                    </a:p>
                  </a:txBody>
                  <a:tcPr/>
                </a:tc>
                <a:tc>
                  <a:txBody>
                    <a:bodyPr/>
                    <a:lstStyle/>
                    <a:p>
                      <a:pPr algn="l"/>
                      <a:r>
                        <a:rPr lang="en-US" sz="1400" dirty="0"/>
                        <a:t>9 250.00</a:t>
                      </a:r>
                      <a:endParaRPr lang="en-ZA" sz="1400" dirty="0"/>
                    </a:p>
                  </a:txBody>
                  <a:tcPr/>
                </a:tc>
                <a:extLst>
                  <a:ext uri="{0D108BD9-81ED-4DB2-BD59-A6C34878D82A}">
                    <a16:rowId xmlns:a16="http://schemas.microsoft.com/office/drawing/2014/main" val="212781462"/>
                  </a:ext>
                </a:extLst>
              </a:tr>
              <a:tr h="370840">
                <a:tc>
                  <a:txBody>
                    <a:bodyPr/>
                    <a:lstStyle/>
                    <a:p>
                      <a:pPr algn="l"/>
                      <a:r>
                        <a:rPr lang="pt-BR" sz="1400" b="0" i="0" u="none" strike="noStrike" kern="1200" baseline="0" dirty="0">
                          <a:solidFill>
                            <a:schemeClr val="dk1"/>
                          </a:solidFill>
                          <a:latin typeface="+mn-lt"/>
                          <a:ea typeface="+mn-ea"/>
                          <a:cs typeface="+mn-cs"/>
                        </a:rPr>
                        <a:t>R150 000 001 – R250 000 000</a:t>
                      </a:r>
                      <a:endParaRPr lang="en-ZA" sz="1400" dirty="0"/>
                    </a:p>
                  </a:txBody>
                  <a:tcPr/>
                </a:tc>
                <a:tc>
                  <a:txBody>
                    <a:bodyPr/>
                    <a:lstStyle/>
                    <a:p>
                      <a:pPr algn="l"/>
                      <a:r>
                        <a:rPr lang="en-US" sz="1400" dirty="0"/>
                        <a:t>25 000.00</a:t>
                      </a:r>
                      <a:endParaRPr lang="en-ZA" sz="1400" dirty="0"/>
                    </a:p>
                  </a:txBody>
                  <a:tcPr/>
                </a:tc>
                <a:tc>
                  <a:txBody>
                    <a:bodyPr/>
                    <a:lstStyle/>
                    <a:p>
                      <a:pPr algn="l"/>
                      <a:r>
                        <a:rPr lang="en-US" sz="1400" dirty="0"/>
                        <a:t>5 215.00</a:t>
                      </a:r>
                      <a:endParaRPr lang="en-ZA" sz="1400" dirty="0"/>
                    </a:p>
                  </a:txBody>
                  <a:tcPr/>
                </a:tc>
                <a:tc>
                  <a:txBody>
                    <a:bodyPr/>
                    <a:lstStyle/>
                    <a:p>
                      <a:pPr algn="l"/>
                      <a:r>
                        <a:rPr lang="en-US" sz="1400" dirty="0"/>
                        <a:t>7 655.00</a:t>
                      </a:r>
                      <a:endParaRPr lang="en-ZA" sz="1400" dirty="0"/>
                    </a:p>
                  </a:txBody>
                  <a:tcPr/>
                </a:tc>
                <a:tc>
                  <a:txBody>
                    <a:bodyPr/>
                    <a:lstStyle/>
                    <a:p>
                      <a:pPr algn="l"/>
                      <a:r>
                        <a:rPr lang="en-US" sz="1400" dirty="0"/>
                        <a:t>50 000.00</a:t>
                      </a:r>
                      <a:endParaRPr lang="en-ZA" sz="1400" dirty="0"/>
                    </a:p>
                  </a:txBody>
                  <a:tcPr/>
                </a:tc>
                <a:tc>
                  <a:txBody>
                    <a:bodyPr/>
                    <a:lstStyle/>
                    <a:p>
                      <a:pPr algn="l"/>
                      <a:r>
                        <a:rPr lang="en-US" sz="1400" dirty="0"/>
                        <a:t>11 550.00</a:t>
                      </a:r>
                    </a:p>
                  </a:txBody>
                  <a:tcPr/>
                </a:tc>
                <a:extLst>
                  <a:ext uri="{0D108BD9-81ED-4DB2-BD59-A6C34878D82A}">
                    <a16:rowId xmlns:a16="http://schemas.microsoft.com/office/drawing/2014/main" val="1327233011"/>
                  </a:ext>
                </a:extLst>
              </a:tr>
            </a:tbl>
          </a:graphicData>
        </a:graphic>
      </p:graphicFrame>
      <p:sp>
        <p:nvSpPr>
          <p:cNvPr id="8" name="Rectangle 7">
            <a:extLst>
              <a:ext uri="{FF2B5EF4-FFF2-40B4-BE49-F238E27FC236}">
                <a16:creationId xmlns:a16="http://schemas.microsoft.com/office/drawing/2014/main" id="{39FC2815-F68F-41AA-AB9F-941E3DB04C27}"/>
              </a:ext>
            </a:extLst>
          </p:cNvPr>
          <p:cNvSpPr/>
          <p:nvPr/>
        </p:nvSpPr>
        <p:spPr>
          <a:xfrm>
            <a:off x="373223" y="5625942"/>
            <a:ext cx="2470548" cy="307777"/>
          </a:xfrm>
          <a:prstGeom prst="rect">
            <a:avLst/>
          </a:prstGeom>
        </p:spPr>
        <p:txBody>
          <a:bodyPr wrap="none">
            <a:spAutoFit/>
          </a:bodyPr>
          <a:lstStyle/>
          <a:p>
            <a:r>
              <a:rPr lang="en-ZA" sz="1400" b="1" dirty="0"/>
              <a:t>Annual premiums reflected</a:t>
            </a:r>
            <a:endParaRPr lang="en-ZA" sz="1400" dirty="0"/>
          </a:p>
        </p:txBody>
      </p:sp>
      <p:sp>
        <p:nvSpPr>
          <p:cNvPr id="9" name="Rectangle 8">
            <a:extLst>
              <a:ext uri="{FF2B5EF4-FFF2-40B4-BE49-F238E27FC236}">
                <a16:creationId xmlns:a16="http://schemas.microsoft.com/office/drawing/2014/main" id="{B10CFF13-56F8-4CE1-9AEF-18ECEF849E2C}"/>
              </a:ext>
            </a:extLst>
          </p:cNvPr>
          <p:cNvSpPr/>
          <p:nvPr/>
        </p:nvSpPr>
        <p:spPr>
          <a:xfrm>
            <a:off x="4186108" y="5630123"/>
            <a:ext cx="2101857" cy="307777"/>
          </a:xfrm>
          <a:prstGeom prst="rect">
            <a:avLst/>
          </a:prstGeom>
        </p:spPr>
        <p:txBody>
          <a:bodyPr wrap="none">
            <a:spAutoFit/>
          </a:bodyPr>
          <a:lstStyle/>
          <a:p>
            <a:r>
              <a:rPr lang="en-ZA" sz="1400" b="1" dirty="0"/>
              <a:t>* Each and every claim</a:t>
            </a:r>
          </a:p>
        </p:txBody>
      </p:sp>
      <p:sp>
        <p:nvSpPr>
          <p:cNvPr id="11" name="Rectangle 10">
            <a:extLst>
              <a:ext uri="{FF2B5EF4-FFF2-40B4-BE49-F238E27FC236}">
                <a16:creationId xmlns:a16="http://schemas.microsoft.com/office/drawing/2014/main" id="{F7B0055D-EE8C-4415-A598-775907CCFFDF}"/>
              </a:ext>
            </a:extLst>
          </p:cNvPr>
          <p:cNvSpPr/>
          <p:nvPr/>
        </p:nvSpPr>
        <p:spPr>
          <a:xfrm>
            <a:off x="306548" y="565932"/>
            <a:ext cx="6775722" cy="523220"/>
          </a:xfrm>
          <a:prstGeom prst="rect">
            <a:avLst/>
          </a:prstGeom>
          <a:solidFill>
            <a:srgbClr val="002060"/>
          </a:solidFill>
        </p:spPr>
        <p:txBody>
          <a:bodyPr wrap="square">
            <a:spAutoFit/>
          </a:bodyPr>
          <a:lstStyle/>
          <a:p>
            <a:r>
              <a:rPr lang="en-ZA" sz="2800" dirty="0">
                <a:solidFill>
                  <a:schemeClr val="bg1"/>
                </a:solidFill>
              </a:rPr>
              <a:t>Cyber Insurance  </a:t>
            </a:r>
          </a:p>
        </p:txBody>
      </p:sp>
      <p:sp>
        <p:nvSpPr>
          <p:cNvPr id="2" name="Rectangle 1">
            <a:extLst>
              <a:ext uri="{FF2B5EF4-FFF2-40B4-BE49-F238E27FC236}">
                <a16:creationId xmlns:a16="http://schemas.microsoft.com/office/drawing/2014/main" id="{8FDDC163-6FE3-40BF-AA9A-2AD2AED13870}"/>
              </a:ext>
            </a:extLst>
          </p:cNvPr>
          <p:cNvSpPr/>
          <p:nvPr/>
        </p:nvSpPr>
        <p:spPr>
          <a:xfrm>
            <a:off x="306548" y="1285022"/>
            <a:ext cx="3615092" cy="307777"/>
          </a:xfrm>
          <a:prstGeom prst="rect">
            <a:avLst/>
          </a:prstGeom>
        </p:spPr>
        <p:txBody>
          <a:bodyPr wrap="none">
            <a:spAutoFit/>
          </a:bodyPr>
          <a:lstStyle/>
          <a:p>
            <a:r>
              <a:rPr lang="en-US" sz="1400" dirty="0"/>
              <a:t>For companies under R250 million revenue</a:t>
            </a:r>
            <a:endParaRPr lang="en-ZA" sz="1400" dirty="0"/>
          </a:p>
        </p:txBody>
      </p:sp>
    </p:spTree>
    <p:extLst>
      <p:ext uri="{BB962C8B-B14F-4D97-AF65-F5344CB8AC3E}">
        <p14:creationId xmlns:p14="http://schemas.microsoft.com/office/powerpoint/2010/main" val="21740517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922622-6BEB-4676-9255-BF3EBB9D3D04}"/>
              </a:ext>
            </a:extLst>
          </p:cNvPr>
          <p:cNvSpPr>
            <a:spLocks noGrp="1"/>
          </p:cNvSpPr>
          <p:nvPr>
            <p:ph idx="1"/>
          </p:nvPr>
        </p:nvSpPr>
        <p:spPr>
          <a:xfrm>
            <a:off x="330966" y="1240963"/>
            <a:ext cx="8596668" cy="3880773"/>
          </a:xfrm>
        </p:spPr>
        <p:txBody>
          <a:bodyPr>
            <a:normAutofit/>
          </a:bodyPr>
          <a:lstStyle/>
          <a:p>
            <a:pPr marL="0" indent="0">
              <a:buNone/>
            </a:pPr>
            <a:r>
              <a:rPr lang="en-US" sz="1400" dirty="0"/>
              <a:t>A penetration test, also known as a pen test, is a simulated cyber attack against your computer system to check for exploitable vulnerabilities</a:t>
            </a:r>
            <a:endParaRPr lang="en-ZA" sz="1400" dirty="0"/>
          </a:p>
        </p:txBody>
      </p:sp>
      <p:sp>
        <p:nvSpPr>
          <p:cNvPr id="4" name="Text Placeholder 9">
            <a:extLst>
              <a:ext uri="{FF2B5EF4-FFF2-40B4-BE49-F238E27FC236}">
                <a16:creationId xmlns:a16="http://schemas.microsoft.com/office/drawing/2014/main" id="{6B91F8B0-3AC8-4BD9-8B14-2CC056DDD9D1}"/>
              </a:ext>
            </a:extLst>
          </p:cNvPr>
          <p:cNvSpPr txBox="1">
            <a:spLocks/>
          </p:cNvSpPr>
          <p:nvPr/>
        </p:nvSpPr>
        <p:spPr>
          <a:xfrm>
            <a:off x="675745" y="2160983"/>
            <a:ext cx="4185623" cy="57626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400" dirty="0">
                <a:solidFill>
                  <a:srgbClr val="002060"/>
                </a:solidFill>
              </a:rPr>
              <a:t>Penetration Testing Stages </a:t>
            </a:r>
            <a:endParaRPr lang="en-ZA" sz="2400" dirty="0">
              <a:solidFill>
                <a:srgbClr val="002060"/>
              </a:solidFill>
            </a:endParaRPr>
          </a:p>
        </p:txBody>
      </p:sp>
      <p:sp>
        <p:nvSpPr>
          <p:cNvPr id="5" name="Content Placeholder 10">
            <a:extLst>
              <a:ext uri="{FF2B5EF4-FFF2-40B4-BE49-F238E27FC236}">
                <a16:creationId xmlns:a16="http://schemas.microsoft.com/office/drawing/2014/main" id="{FEE5617F-8C96-4999-8177-EC85AB994EC0}"/>
              </a:ext>
            </a:extLst>
          </p:cNvPr>
          <p:cNvSpPr txBox="1">
            <a:spLocks/>
          </p:cNvSpPr>
          <p:nvPr/>
        </p:nvSpPr>
        <p:spPr>
          <a:xfrm>
            <a:off x="675745" y="2737245"/>
            <a:ext cx="4185623" cy="3304117"/>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1400" dirty="0"/>
              <a:t>Planning &amp; Reconnaissance</a:t>
            </a:r>
          </a:p>
          <a:p>
            <a:r>
              <a:rPr lang="en-US" sz="1400" dirty="0"/>
              <a:t>Scanning </a:t>
            </a:r>
          </a:p>
          <a:p>
            <a:r>
              <a:rPr lang="en-US" sz="1400" dirty="0"/>
              <a:t>Gaining Access </a:t>
            </a:r>
          </a:p>
          <a:p>
            <a:r>
              <a:rPr lang="en-US" sz="1400" dirty="0"/>
              <a:t>Maintaining Access </a:t>
            </a:r>
          </a:p>
          <a:p>
            <a:r>
              <a:rPr lang="en-US" sz="1400" dirty="0"/>
              <a:t>Analysis and WAF Configuration</a:t>
            </a:r>
          </a:p>
          <a:p>
            <a:endParaRPr lang="en-ZA" dirty="0"/>
          </a:p>
        </p:txBody>
      </p:sp>
      <p:sp>
        <p:nvSpPr>
          <p:cNvPr id="6" name="Text Placeholder 9">
            <a:extLst>
              <a:ext uri="{FF2B5EF4-FFF2-40B4-BE49-F238E27FC236}">
                <a16:creationId xmlns:a16="http://schemas.microsoft.com/office/drawing/2014/main" id="{0EB160C8-6DFA-4C74-8BB0-DC9F34634B05}"/>
              </a:ext>
            </a:extLst>
          </p:cNvPr>
          <p:cNvSpPr txBox="1">
            <a:spLocks/>
          </p:cNvSpPr>
          <p:nvPr/>
        </p:nvSpPr>
        <p:spPr>
          <a:xfrm>
            <a:off x="5237822" y="2160983"/>
            <a:ext cx="4185623" cy="57626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400" dirty="0">
                <a:solidFill>
                  <a:srgbClr val="002060"/>
                </a:solidFill>
              </a:rPr>
              <a:t>Penetration Testing Method </a:t>
            </a:r>
            <a:endParaRPr lang="en-ZA" sz="2400" dirty="0">
              <a:solidFill>
                <a:srgbClr val="002060"/>
              </a:solidFill>
            </a:endParaRPr>
          </a:p>
        </p:txBody>
      </p:sp>
      <p:sp>
        <p:nvSpPr>
          <p:cNvPr id="7" name="Content Placeholder 10">
            <a:extLst>
              <a:ext uri="{FF2B5EF4-FFF2-40B4-BE49-F238E27FC236}">
                <a16:creationId xmlns:a16="http://schemas.microsoft.com/office/drawing/2014/main" id="{3066322E-E67A-4BDB-87A6-A6011D1FD8AC}"/>
              </a:ext>
            </a:extLst>
          </p:cNvPr>
          <p:cNvSpPr txBox="1">
            <a:spLocks/>
          </p:cNvSpPr>
          <p:nvPr/>
        </p:nvSpPr>
        <p:spPr>
          <a:xfrm>
            <a:off x="5464833" y="2732751"/>
            <a:ext cx="4185623" cy="3304117"/>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1400" dirty="0"/>
              <a:t>External Testing</a:t>
            </a:r>
          </a:p>
          <a:p>
            <a:r>
              <a:rPr lang="en-US" sz="1400" dirty="0"/>
              <a:t>Internal Testing</a:t>
            </a:r>
          </a:p>
          <a:p>
            <a:r>
              <a:rPr lang="en-US" sz="1400" dirty="0"/>
              <a:t>Blind Testing</a:t>
            </a:r>
          </a:p>
          <a:p>
            <a:r>
              <a:rPr lang="en-US" sz="1400" dirty="0"/>
              <a:t>Double-blind Testing</a:t>
            </a:r>
          </a:p>
          <a:p>
            <a:r>
              <a:rPr lang="en-US" sz="1400" dirty="0"/>
              <a:t>Targeted Testing </a:t>
            </a:r>
          </a:p>
          <a:p>
            <a:endParaRPr lang="en-ZA" dirty="0"/>
          </a:p>
        </p:txBody>
      </p:sp>
      <p:sp>
        <p:nvSpPr>
          <p:cNvPr id="10" name="Rectangle 9">
            <a:extLst>
              <a:ext uri="{FF2B5EF4-FFF2-40B4-BE49-F238E27FC236}">
                <a16:creationId xmlns:a16="http://schemas.microsoft.com/office/drawing/2014/main" id="{690400E2-3221-4D7D-874F-3B7B7273DCF4}"/>
              </a:ext>
            </a:extLst>
          </p:cNvPr>
          <p:cNvSpPr/>
          <p:nvPr/>
        </p:nvSpPr>
        <p:spPr>
          <a:xfrm>
            <a:off x="330966" y="555027"/>
            <a:ext cx="6861881" cy="523220"/>
          </a:xfrm>
          <a:prstGeom prst="rect">
            <a:avLst/>
          </a:prstGeom>
          <a:solidFill>
            <a:srgbClr val="002060"/>
          </a:solidFill>
        </p:spPr>
        <p:txBody>
          <a:bodyPr wrap="square">
            <a:spAutoFit/>
          </a:bodyPr>
          <a:lstStyle/>
          <a:p>
            <a:r>
              <a:rPr lang="en-US" sz="2800" dirty="0">
                <a:solidFill>
                  <a:schemeClr val="bg1"/>
                </a:solidFill>
              </a:rPr>
              <a:t>Penetration Testing</a:t>
            </a:r>
            <a:endParaRPr lang="en-ZA" sz="2800" dirty="0">
              <a:solidFill>
                <a:schemeClr val="bg1"/>
              </a:solidFill>
            </a:endParaRPr>
          </a:p>
        </p:txBody>
      </p:sp>
      <p:pic>
        <p:nvPicPr>
          <p:cNvPr id="12" name="Picture 11">
            <a:extLst>
              <a:ext uri="{FF2B5EF4-FFF2-40B4-BE49-F238E27FC236}">
                <a16:creationId xmlns:a16="http://schemas.microsoft.com/office/drawing/2014/main" id="{09F855F0-384D-4A5D-9DD1-1031C0EE367B}"/>
              </a:ext>
            </a:extLst>
          </p:cNvPr>
          <p:cNvPicPr>
            <a:picLocks noChangeAspect="1"/>
          </p:cNvPicPr>
          <p:nvPr/>
        </p:nvPicPr>
        <p:blipFill rotWithShape="1">
          <a:blip r:embed="rId2"/>
          <a:srcRect b="9203"/>
          <a:stretch/>
        </p:blipFill>
        <p:spPr>
          <a:xfrm>
            <a:off x="2369672" y="4388515"/>
            <a:ext cx="5036016" cy="2229109"/>
          </a:xfrm>
          <a:prstGeom prst="rect">
            <a:avLst/>
          </a:prstGeom>
        </p:spPr>
      </p:pic>
    </p:spTree>
    <p:extLst>
      <p:ext uri="{BB962C8B-B14F-4D97-AF65-F5344CB8AC3E}">
        <p14:creationId xmlns:p14="http://schemas.microsoft.com/office/powerpoint/2010/main" val="19796055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CB0454-6407-4441-8B38-C47ACF148B14}"/>
              </a:ext>
            </a:extLst>
          </p:cNvPr>
          <p:cNvSpPr>
            <a:spLocks noGrp="1"/>
          </p:cNvSpPr>
          <p:nvPr>
            <p:ph idx="1"/>
          </p:nvPr>
        </p:nvSpPr>
        <p:spPr>
          <a:xfrm>
            <a:off x="344818" y="1517651"/>
            <a:ext cx="8596668" cy="2054224"/>
          </a:xfrm>
        </p:spPr>
        <p:txBody>
          <a:bodyPr/>
          <a:lstStyle/>
          <a:p>
            <a:pPr marL="0" indent="0" fontAlgn="base">
              <a:buNone/>
            </a:pPr>
            <a:r>
              <a:rPr lang="en-US" sz="1400" b="1" dirty="0"/>
              <a:t>VPS is your own virtual private server</a:t>
            </a:r>
            <a:r>
              <a:rPr lang="en-US" sz="1400" dirty="0"/>
              <a:t>. Working with virtual servers is the same as dedicated servers. All access and connectivity is managed by Sautech and access to servers are on the same basis as dedicated infrastructure. VPS gives you computing resources at a lower price when compared to dedicated servers. The flexibility to upgrade resources are easily managed and can be up or down scaled at any time.</a:t>
            </a:r>
          </a:p>
          <a:p>
            <a:pPr marL="0" indent="0" fontAlgn="base">
              <a:buNone/>
            </a:pPr>
            <a:r>
              <a:rPr lang="en-US" sz="1400" dirty="0"/>
              <a:t>Sautech provides the Virtual Infrastructure Hardware and allows you to choose your preferred operating system i.e. Microsoft Windows or Linux Distros.</a:t>
            </a:r>
          </a:p>
          <a:p>
            <a:pPr marL="0" indent="0">
              <a:buNone/>
            </a:pPr>
            <a:endParaRPr lang="en-ZA" dirty="0"/>
          </a:p>
        </p:txBody>
      </p:sp>
      <p:sp>
        <p:nvSpPr>
          <p:cNvPr id="6" name="Content Placeholder 2">
            <a:extLst>
              <a:ext uri="{FF2B5EF4-FFF2-40B4-BE49-F238E27FC236}">
                <a16:creationId xmlns:a16="http://schemas.microsoft.com/office/drawing/2014/main" id="{D1BEBC00-63F3-44E3-875E-A7562AC0626E}"/>
              </a:ext>
            </a:extLst>
          </p:cNvPr>
          <p:cNvSpPr txBox="1">
            <a:spLocks/>
          </p:cNvSpPr>
          <p:nvPr/>
        </p:nvSpPr>
        <p:spPr>
          <a:xfrm>
            <a:off x="344818" y="3429000"/>
            <a:ext cx="8596668" cy="205422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fontAlgn="base">
              <a:buNone/>
            </a:pPr>
            <a:r>
              <a:rPr lang="en-US" sz="1400" b="1" dirty="0"/>
              <a:t>Why use VPS hosting?</a:t>
            </a:r>
            <a:endParaRPr lang="en-US" sz="1400" dirty="0"/>
          </a:p>
          <a:p>
            <a:pPr marL="0" indent="0" fontAlgn="base">
              <a:buNone/>
            </a:pPr>
            <a:r>
              <a:rPr lang="en-US" sz="1400" dirty="0"/>
              <a:t>VPS hosting starts from R250</a:t>
            </a:r>
            <a:r>
              <a:rPr lang="en-US" sz="1400" dirty="0">
                <a:solidFill>
                  <a:schemeClr val="tx1"/>
                </a:solidFill>
              </a:rPr>
              <a:t> </a:t>
            </a:r>
            <a:r>
              <a:rPr lang="en-US" sz="1400" dirty="0"/>
              <a:t>per month. This enables you to build your own web hosting company, file server, application hosting services and solutions on top of our tiered Dell infrastructure hosted throughout Southern Africa.</a:t>
            </a:r>
          </a:p>
          <a:p>
            <a:pPr marL="0" indent="0" fontAlgn="base">
              <a:buNone/>
            </a:pPr>
            <a:r>
              <a:rPr lang="en-US" sz="1400" dirty="0"/>
              <a:t>Additional services can be installed and configured as tailor made packages. We offer self-managed and managed solutions.</a:t>
            </a:r>
          </a:p>
          <a:p>
            <a:pPr marL="0" indent="0">
              <a:buFont typeface="Wingdings 3" charset="2"/>
              <a:buNone/>
            </a:pPr>
            <a:endParaRPr lang="en-ZA" dirty="0"/>
          </a:p>
        </p:txBody>
      </p:sp>
      <p:sp>
        <p:nvSpPr>
          <p:cNvPr id="7" name="Rectangle 6">
            <a:extLst>
              <a:ext uri="{FF2B5EF4-FFF2-40B4-BE49-F238E27FC236}">
                <a16:creationId xmlns:a16="http://schemas.microsoft.com/office/drawing/2014/main" id="{DA2EA27A-DE85-426C-980A-FDD8203F40CD}"/>
              </a:ext>
            </a:extLst>
          </p:cNvPr>
          <p:cNvSpPr/>
          <p:nvPr/>
        </p:nvSpPr>
        <p:spPr>
          <a:xfrm>
            <a:off x="344818" y="549098"/>
            <a:ext cx="6861881" cy="523220"/>
          </a:xfrm>
          <a:prstGeom prst="rect">
            <a:avLst/>
          </a:prstGeom>
          <a:solidFill>
            <a:srgbClr val="002060"/>
          </a:solidFill>
        </p:spPr>
        <p:txBody>
          <a:bodyPr wrap="square">
            <a:spAutoFit/>
          </a:bodyPr>
          <a:lstStyle/>
          <a:p>
            <a:r>
              <a:rPr lang="en-US" sz="2800" dirty="0">
                <a:solidFill>
                  <a:schemeClr val="bg1"/>
                </a:solidFill>
              </a:rPr>
              <a:t>Virtual Servers </a:t>
            </a:r>
            <a:endParaRPr lang="en-ZA" sz="2800" dirty="0">
              <a:solidFill>
                <a:schemeClr val="bg1"/>
              </a:solidFill>
            </a:endParaRPr>
          </a:p>
        </p:txBody>
      </p:sp>
    </p:spTree>
    <p:extLst>
      <p:ext uri="{BB962C8B-B14F-4D97-AF65-F5344CB8AC3E}">
        <p14:creationId xmlns:p14="http://schemas.microsoft.com/office/powerpoint/2010/main" val="6423689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9">
            <a:extLst>
              <a:ext uri="{FF2B5EF4-FFF2-40B4-BE49-F238E27FC236}">
                <a16:creationId xmlns:a16="http://schemas.microsoft.com/office/drawing/2014/main" id="{0011A459-2C01-4ADA-BA30-D23C887FB586}"/>
              </a:ext>
            </a:extLst>
          </p:cNvPr>
          <p:cNvSpPr txBox="1">
            <a:spLocks/>
          </p:cNvSpPr>
          <p:nvPr/>
        </p:nvSpPr>
        <p:spPr>
          <a:xfrm>
            <a:off x="375989" y="528507"/>
            <a:ext cx="4185623" cy="57626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400" dirty="0">
                <a:solidFill>
                  <a:srgbClr val="002060"/>
                </a:solidFill>
              </a:rPr>
              <a:t>Additional Services:</a:t>
            </a:r>
            <a:endParaRPr lang="en-ZA" sz="2400" dirty="0">
              <a:solidFill>
                <a:srgbClr val="002060"/>
              </a:solidFill>
            </a:endParaRPr>
          </a:p>
        </p:txBody>
      </p:sp>
      <p:sp>
        <p:nvSpPr>
          <p:cNvPr id="5" name="Content Placeholder 10">
            <a:extLst>
              <a:ext uri="{FF2B5EF4-FFF2-40B4-BE49-F238E27FC236}">
                <a16:creationId xmlns:a16="http://schemas.microsoft.com/office/drawing/2014/main" id="{7FFA9876-AE71-478E-B9AE-0AF19476C454}"/>
              </a:ext>
            </a:extLst>
          </p:cNvPr>
          <p:cNvSpPr txBox="1">
            <a:spLocks/>
          </p:cNvSpPr>
          <p:nvPr/>
        </p:nvSpPr>
        <p:spPr>
          <a:xfrm>
            <a:off x="677333" y="1104769"/>
            <a:ext cx="4185623" cy="5224724"/>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1400" dirty="0">
                <a:solidFill>
                  <a:schemeClr val="tx1">
                    <a:lumMod val="65000"/>
                    <a:lumOff val="35000"/>
                  </a:schemeClr>
                </a:solidFill>
              </a:rPr>
              <a:t>Windows Server 2022 = R495</a:t>
            </a:r>
          </a:p>
          <a:p>
            <a:r>
              <a:rPr lang="en-US" sz="1400" dirty="0">
                <a:solidFill>
                  <a:schemeClr val="tx1">
                    <a:lumMod val="65000"/>
                    <a:lumOff val="35000"/>
                  </a:schemeClr>
                </a:solidFill>
              </a:rPr>
              <a:t>vCPU = R125</a:t>
            </a:r>
          </a:p>
          <a:p>
            <a:r>
              <a:rPr lang="en-US" sz="1400" dirty="0">
                <a:solidFill>
                  <a:schemeClr val="tx1">
                    <a:lumMod val="65000"/>
                    <a:lumOff val="35000"/>
                  </a:schemeClr>
                </a:solidFill>
              </a:rPr>
              <a:t>vRam = R25</a:t>
            </a:r>
          </a:p>
          <a:p>
            <a:r>
              <a:rPr lang="en-US" sz="1400" dirty="0">
                <a:solidFill>
                  <a:schemeClr val="tx1">
                    <a:lumMod val="65000"/>
                    <a:lumOff val="35000"/>
                  </a:schemeClr>
                </a:solidFill>
              </a:rPr>
              <a:t>vHDD SATA = R0.15</a:t>
            </a:r>
          </a:p>
          <a:p>
            <a:r>
              <a:rPr lang="en-US" sz="1400" dirty="0">
                <a:solidFill>
                  <a:schemeClr val="tx1">
                    <a:lumMod val="65000"/>
                    <a:lumOff val="35000"/>
                  </a:schemeClr>
                </a:solidFill>
              </a:rPr>
              <a:t>vHDD SDD = R0.30</a:t>
            </a:r>
          </a:p>
          <a:p>
            <a:r>
              <a:rPr lang="en-US" sz="1400" dirty="0">
                <a:solidFill>
                  <a:schemeClr val="tx1">
                    <a:lumMod val="65000"/>
                    <a:lumOff val="35000"/>
                  </a:schemeClr>
                </a:solidFill>
              </a:rPr>
              <a:t>SentinelOne Server = R70</a:t>
            </a:r>
          </a:p>
          <a:p>
            <a:r>
              <a:rPr lang="en-US" sz="1400" dirty="0">
                <a:solidFill>
                  <a:schemeClr val="tx1">
                    <a:lumMod val="65000"/>
                    <a:lumOff val="35000"/>
                  </a:schemeClr>
                </a:solidFill>
              </a:rPr>
              <a:t>Veeam Base License = R120</a:t>
            </a:r>
          </a:p>
          <a:p>
            <a:r>
              <a:rPr lang="en-US" sz="1400" dirty="0">
                <a:solidFill>
                  <a:schemeClr val="tx1">
                    <a:lumMod val="65000"/>
                    <a:lumOff val="35000"/>
                  </a:schemeClr>
                </a:solidFill>
              </a:rPr>
              <a:t>Server Support/ Management = R750</a:t>
            </a:r>
          </a:p>
          <a:p>
            <a:r>
              <a:rPr lang="en-US" sz="1400" dirty="0">
                <a:solidFill>
                  <a:schemeClr val="tx1">
                    <a:lumMod val="65000"/>
                    <a:lumOff val="35000"/>
                  </a:schemeClr>
                </a:solidFill>
              </a:rPr>
              <a:t>Static IP Address = R55</a:t>
            </a:r>
          </a:p>
          <a:p>
            <a:pPr fontAlgn="b"/>
            <a:r>
              <a:rPr lang="en-ZA" sz="1400" dirty="0">
                <a:solidFill>
                  <a:schemeClr val="tx1">
                    <a:lumMod val="65000"/>
                    <a:lumOff val="35000"/>
                  </a:schemeClr>
                </a:solidFill>
              </a:rPr>
              <a:t>Hyper-V Rep Na-RSA – 250GB = R350</a:t>
            </a:r>
          </a:p>
          <a:p>
            <a:pPr fontAlgn="b"/>
            <a:r>
              <a:rPr lang="en-ZA" sz="1400" dirty="0">
                <a:solidFill>
                  <a:schemeClr val="tx1">
                    <a:lumMod val="65000"/>
                    <a:lumOff val="35000"/>
                  </a:schemeClr>
                </a:solidFill>
              </a:rPr>
              <a:t>Hyper-V Rep Na-RSA – 500GB = R500</a:t>
            </a:r>
          </a:p>
          <a:p>
            <a:pPr fontAlgn="b"/>
            <a:r>
              <a:rPr lang="en-ZA" sz="1400" dirty="0">
                <a:solidFill>
                  <a:schemeClr val="tx1">
                    <a:lumMod val="65000"/>
                    <a:lumOff val="35000"/>
                  </a:schemeClr>
                </a:solidFill>
              </a:rPr>
              <a:t>Hyper-V Rep Na-RSA - 1TB = R700</a:t>
            </a:r>
          </a:p>
          <a:p>
            <a:pPr fontAlgn="b"/>
            <a:r>
              <a:rPr lang="en-ZA" sz="1400" dirty="0">
                <a:solidFill>
                  <a:schemeClr val="tx1">
                    <a:lumMod val="65000"/>
                    <a:lumOff val="35000"/>
                  </a:schemeClr>
                </a:solidFill>
              </a:rPr>
              <a:t>Hyper-V Rep Na-RSA - 2TB = R1200</a:t>
            </a:r>
            <a:endParaRPr lang="en-US" sz="1400" dirty="0">
              <a:solidFill>
                <a:schemeClr val="tx1">
                  <a:lumMod val="65000"/>
                  <a:lumOff val="35000"/>
                </a:schemeClr>
              </a:solidFill>
            </a:endParaRPr>
          </a:p>
          <a:p>
            <a:r>
              <a:rPr lang="en-US" sz="1400" dirty="0">
                <a:solidFill>
                  <a:schemeClr val="tx1">
                    <a:lumMod val="65000"/>
                    <a:lumOff val="35000"/>
                  </a:schemeClr>
                </a:solidFill>
              </a:rPr>
              <a:t>Backups per GB = R0.75</a:t>
            </a:r>
          </a:p>
          <a:p>
            <a:r>
              <a:rPr lang="en-US" sz="1400" dirty="0">
                <a:solidFill>
                  <a:schemeClr val="tx1">
                    <a:lumMod val="65000"/>
                    <a:lumOff val="35000"/>
                  </a:schemeClr>
                </a:solidFill>
              </a:rPr>
              <a:t>Remote Desktop per User = R130</a:t>
            </a:r>
          </a:p>
          <a:p>
            <a:pPr marL="0" indent="0">
              <a:buNone/>
            </a:pPr>
            <a:endParaRPr lang="en-US" sz="1400" b="1" dirty="0">
              <a:solidFill>
                <a:schemeClr val="tx1"/>
              </a:solidFill>
            </a:endParaRPr>
          </a:p>
          <a:p>
            <a:endParaRPr lang="en-ZA" dirty="0"/>
          </a:p>
        </p:txBody>
      </p:sp>
      <p:pic>
        <p:nvPicPr>
          <p:cNvPr id="9" name="Picture 8">
            <a:extLst>
              <a:ext uri="{FF2B5EF4-FFF2-40B4-BE49-F238E27FC236}">
                <a16:creationId xmlns:a16="http://schemas.microsoft.com/office/drawing/2014/main" id="{9F46342E-0ED5-4015-99F4-E72397EA86DF}"/>
              </a:ext>
            </a:extLst>
          </p:cNvPr>
          <p:cNvPicPr>
            <a:picLocks noChangeAspect="1"/>
          </p:cNvPicPr>
          <p:nvPr/>
        </p:nvPicPr>
        <p:blipFill>
          <a:blip r:embed="rId2"/>
          <a:stretch>
            <a:fillRect/>
          </a:stretch>
        </p:blipFill>
        <p:spPr>
          <a:xfrm>
            <a:off x="5424486" y="1104769"/>
            <a:ext cx="3476917" cy="4195773"/>
          </a:xfrm>
          <a:prstGeom prst="rect">
            <a:avLst/>
          </a:prstGeom>
        </p:spPr>
      </p:pic>
      <p:sp>
        <p:nvSpPr>
          <p:cNvPr id="6" name="Rectangle 5">
            <a:extLst>
              <a:ext uri="{FF2B5EF4-FFF2-40B4-BE49-F238E27FC236}">
                <a16:creationId xmlns:a16="http://schemas.microsoft.com/office/drawing/2014/main" id="{5B155D79-1558-46D6-8C1C-A9FEF2B608D4}"/>
              </a:ext>
            </a:extLst>
          </p:cNvPr>
          <p:cNvSpPr/>
          <p:nvPr/>
        </p:nvSpPr>
        <p:spPr>
          <a:xfrm>
            <a:off x="677333" y="6329493"/>
            <a:ext cx="2103589" cy="307777"/>
          </a:xfrm>
          <a:prstGeom prst="rect">
            <a:avLst/>
          </a:prstGeom>
        </p:spPr>
        <p:txBody>
          <a:bodyPr wrap="none">
            <a:spAutoFit/>
          </a:bodyPr>
          <a:lstStyle/>
          <a:p>
            <a:r>
              <a:rPr lang="en-US" sz="1400" dirty="0"/>
              <a:t>*</a:t>
            </a:r>
            <a:r>
              <a:rPr lang="en-ZA" sz="1400" b="1" dirty="0"/>
              <a:t>All prices exclude VAT</a:t>
            </a:r>
            <a:endParaRPr lang="en-ZA" sz="1400" dirty="0"/>
          </a:p>
        </p:txBody>
      </p:sp>
    </p:spTree>
    <p:extLst>
      <p:ext uri="{BB962C8B-B14F-4D97-AF65-F5344CB8AC3E}">
        <p14:creationId xmlns:p14="http://schemas.microsoft.com/office/powerpoint/2010/main" val="25866954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2A133FD4-6406-46DF-A6ED-1862839E73A2}"/>
              </a:ext>
            </a:extLst>
          </p:cNvPr>
          <p:cNvSpPr>
            <a:spLocks noGrp="1"/>
          </p:cNvSpPr>
          <p:nvPr>
            <p:ph sz="half" idx="2"/>
          </p:nvPr>
        </p:nvSpPr>
        <p:spPr>
          <a:xfrm>
            <a:off x="350608" y="1376954"/>
            <a:ext cx="8596668" cy="1320801"/>
          </a:xfrm>
        </p:spPr>
        <p:txBody>
          <a:bodyPr>
            <a:normAutofit/>
          </a:bodyPr>
          <a:lstStyle/>
          <a:p>
            <a:pPr marL="0" indent="0">
              <a:buNone/>
            </a:pPr>
            <a:r>
              <a:rPr lang="en-US" sz="1400" dirty="0"/>
              <a:t>Why have a physical server?</a:t>
            </a:r>
          </a:p>
          <a:p>
            <a:pPr marL="0" indent="0">
              <a:buNone/>
            </a:pPr>
            <a:r>
              <a:rPr lang="en-US" sz="1400" b="1" dirty="0"/>
              <a:t>Powerful performance</a:t>
            </a:r>
            <a:r>
              <a:rPr lang="en-US" sz="1400" dirty="0"/>
              <a:t>: Since physical servers are designated to a single client and do not share processors or other components with other users, they deliver greater performance. With physical servers, you won't experience lags even during peak times.</a:t>
            </a:r>
          </a:p>
        </p:txBody>
      </p:sp>
      <p:sp>
        <p:nvSpPr>
          <p:cNvPr id="7" name="Text Placeholder 6">
            <a:extLst>
              <a:ext uri="{FF2B5EF4-FFF2-40B4-BE49-F238E27FC236}">
                <a16:creationId xmlns:a16="http://schemas.microsoft.com/office/drawing/2014/main" id="{F3EC1F70-E3A4-41C3-B2CB-45146A2C4D46}"/>
              </a:ext>
            </a:extLst>
          </p:cNvPr>
          <p:cNvSpPr>
            <a:spLocks noGrp="1"/>
          </p:cNvSpPr>
          <p:nvPr>
            <p:ph type="body" sz="quarter" idx="3"/>
          </p:nvPr>
        </p:nvSpPr>
        <p:spPr>
          <a:xfrm>
            <a:off x="369452" y="3527019"/>
            <a:ext cx="3916188" cy="576262"/>
          </a:xfrm>
        </p:spPr>
        <p:txBody>
          <a:bodyPr/>
          <a:lstStyle/>
          <a:p>
            <a:r>
              <a:rPr lang="en-US" dirty="0">
                <a:solidFill>
                  <a:srgbClr val="002060"/>
                </a:solidFill>
              </a:rPr>
              <a:t>Dell Server </a:t>
            </a:r>
            <a:endParaRPr lang="en-ZA" dirty="0">
              <a:solidFill>
                <a:srgbClr val="002060"/>
              </a:solidFill>
            </a:endParaRPr>
          </a:p>
        </p:txBody>
      </p:sp>
      <p:sp>
        <p:nvSpPr>
          <p:cNvPr id="8" name="Content Placeholder 7">
            <a:extLst>
              <a:ext uri="{FF2B5EF4-FFF2-40B4-BE49-F238E27FC236}">
                <a16:creationId xmlns:a16="http://schemas.microsoft.com/office/drawing/2014/main" id="{F58BEF3D-D8DD-4E37-9114-300CF70F5BEE}"/>
              </a:ext>
            </a:extLst>
          </p:cNvPr>
          <p:cNvSpPr>
            <a:spLocks noGrp="1"/>
          </p:cNvSpPr>
          <p:nvPr>
            <p:ph sz="quarter" idx="4"/>
          </p:nvPr>
        </p:nvSpPr>
        <p:spPr>
          <a:xfrm>
            <a:off x="340473" y="4151935"/>
            <a:ext cx="2942944" cy="1992175"/>
          </a:xfrm>
        </p:spPr>
        <p:txBody>
          <a:bodyPr>
            <a:normAutofit/>
          </a:bodyPr>
          <a:lstStyle/>
          <a:p>
            <a:r>
              <a:rPr lang="en-US" sz="1400" dirty="0"/>
              <a:t>Entry Level Dell</a:t>
            </a:r>
          </a:p>
          <a:p>
            <a:r>
              <a:rPr lang="en-US" sz="1400" dirty="0"/>
              <a:t>64GB Memory</a:t>
            </a:r>
          </a:p>
          <a:p>
            <a:r>
              <a:rPr lang="en-US" sz="1400" dirty="0"/>
              <a:t>2 x Xeon CPU</a:t>
            </a:r>
          </a:p>
          <a:p>
            <a:r>
              <a:rPr lang="en-US" sz="1400" dirty="0"/>
              <a:t>8TB SATA</a:t>
            </a:r>
          </a:p>
          <a:p>
            <a:r>
              <a:rPr lang="en-US" sz="1400" dirty="0"/>
              <a:t>R1500.00</a:t>
            </a:r>
          </a:p>
          <a:p>
            <a:endParaRPr lang="en-US" dirty="0"/>
          </a:p>
        </p:txBody>
      </p:sp>
      <p:pic>
        <p:nvPicPr>
          <p:cNvPr id="11" name="Picture 10">
            <a:extLst>
              <a:ext uri="{FF2B5EF4-FFF2-40B4-BE49-F238E27FC236}">
                <a16:creationId xmlns:a16="http://schemas.microsoft.com/office/drawing/2014/main" id="{6AB63273-6A3C-4E32-9B42-EB6AC590BDCB}"/>
              </a:ext>
            </a:extLst>
          </p:cNvPr>
          <p:cNvPicPr>
            <a:picLocks noChangeAspect="1"/>
          </p:cNvPicPr>
          <p:nvPr/>
        </p:nvPicPr>
        <p:blipFill>
          <a:blip r:embed="rId2"/>
          <a:stretch>
            <a:fillRect/>
          </a:stretch>
        </p:blipFill>
        <p:spPr>
          <a:xfrm>
            <a:off x="4648942" y="3527019"/>
            <a:ext cx="2972798" cy="2972798"/>
          </a:xfrm>
          <a:prstGeom prst="rect">
            <a:avLst/>
          </a:prstGeom>
          <a:effectLst>
            <a:softEdge rad="12700"/>
          </a:effectLst>
        </p:spPr>
      </p:pic>
      <p:sp>
        <p:nvSpPr>
          <p:cNvPr id="12" name="Content Placeholder 2">
            <a:extLst>
              <a:ext uri="{FF2B5EF4-FFF2-40B4-BE49-F238E27FC236}">
                <a16:creationId xmlns:a16="http://schemas.microsoft.com/office/drawing/2014/main" id="{0F61C5EC-C1E8-4A7B-9A8A-644BEE481F9F}"/>
              </a:ext>
            </a:extLst>
          </p:cNvPr>
          <p:cNvSpPr txBox="1">
            <a:spLocks/>
          </p:cNvSpPr>
          <p:nvPr/>
        </p:nvSpPr>
        <p:spPr>
          <a:xfrm>
            <a:off x="350608" y="2573861"/>
            <a:ext cx="8596668" cy="1159275"/>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1400" dirty="0"/>
              <a:t>Sautech offers dedicated hardware rental. We have various models and configuration of 1U and 2U Dell servers available either on a fixed term or month to month basis (depending on the specifications).</a:t>
            </a:r>
            <a:br>
              <a:rPr lang="en-US" sz="1400" dirty="0"/>
            </a:br>
            <a:r>
              <a:rPr lang="en-US" sz="1400" dirty="0"/>
              <a:t>All our servers are dual power supply running from different power feeds for reliable power distribution and uptime</a:t>
            </a:r>
            <a:r>
              <a:rPr lang="en-US" sz="1600" dirty="0"/>
              <a:t>.</a:t>
            </a:r>
          </a:p>
        </p:txBody>
      </p:sp>
      <p:sp>
        <p:nvSpPr>
          <p:cNvPr id="10" name="Rectangle 9">
            <a:extLst>
              <a:ext uri="{FF2B5EF4-FFF2-40B4-BE49-F238E27FC236}">
                <a16:creationId xmlns:a16="http://schemas.microsoft.com/office/drawing/2014/main" id="{3E509F55-3930-4BBC-B5AA-9FAA7F9FDAAF}"/>
              </a:ext>
            </a:extLst>
          </p:cNvPr>
          <p:cNvSpPr/>
          <p:nvPr/>
        </p:nvSpPr>
        <p:spPr>
          <a:xfrm>
            <a:off x="340473" y="551553"/>
            <a:ext cx="6861881" cy="523220"/>
          </a:xfrm>
          <a:prstGeom prst="rect">
            <a:avLst/>
          </a:prstGeom>
          <a:solidFill>
            <a:srgbClr val="002060"/>
          </a:solidFill>
        </p:spPr>
        <p:txBody>
          <a:bodyPr wrap="square">
            <a:spAutoFit/>
          </a:bodyPr>
          <a:lstStyle/>
          <a:p>
            <a:r>
              <a:rPr lang="en-US" sz="2800" dirty="0">
                <a:solidFill>
                  <a:schemeClr val="bg1"/>
                </a:solidFill>
              </a:rPr>
              <a:t>Dedicated Server </a:t>
            </a:r>
            <a:endParaRPr lang="en-ZA" sz="2800" dirty="0">
              <a:solidFill>
                <a:schemeClr val="bg1"/>
              </a:solidFill>
            </a:endParaRPr>
          </a:p>
        </p:txBody>
      </p:sp>
      <p:sp>
        <p:nvSpPr>
          <p:cNvPr id="9" name="Rectangle 8">
            <a:extLst>
              <a:ext uri="{FF2B5EF4-FFF2-40B4-BE49-F238E27FC236}">
                <a16:creationId xmlns:a16="http://schemas.microsoft.com/office/drawing/2014/main" id="{4D3A2F0F-9CFD-4F4F-AD61-189572EA9883}"/>
              </a:ext>
            </a:extLst>
          </p:cNvPr>
          <p:cNvSpPr/>
          <p:nvPr/>
        </p:nvSpPr>
        <p:spPr>
          <a:xfrm>
            <a:off x="340473" y="5828733"/>
            <a:ext cx="3828036" cy="523220"/>
          </a:xfrm>
          <a:prstGeom prst="rect">
            <a:avLst/>
          </a:prstGeom>
        </p:spPr>
        <p:txBody>
          <a:bodyPr wrap="none">
            <a:spAutoFit/>
          </a:bodyPr>
          <a:lstStyle/>
          <a:p>
            <a:r>
              <a:rPr lang="en-US" sz="1400" dirty="0">
                <a:solidFill>
                  <a:schemeClr val="tx1">
                    <a:lumMod val="75000"/>
                    <a:lumOff val="25000"/>
                  </a:schemeClr>
                </a:solidFill>
              </a:rPr>
              <a:t>Entry level Server Hosting South Africa R1200</a:t>
            </a:r>
          </a:p>
          <a:p>
            <a:r>
              <a:rPr lang="en-US" sz="1400" dirty="0">
                <a:solidFill>
                  <a:schemeClr val="tx1">
                    <a:lumMod val="75000"/>
                    <a:lumOff val="25000"/>
                  </a:schemeClr>
                </a:solidFill>
              </a:rPr>
              <a:t>Includes 100GB Bidirectional Bandwidth </a:t>
            </a:r>
            <a:endParaRPr lang="en-ZA" sz="1400" dirty="0">
              <a:solidFill>
                <a:schemeClr val="tx1">
                  <a:lumMod val="75000"/>
                  <a:lumOff val="25000"/>
                </a:schemeClr>
              </a:solidFill>
            </a:endParaRPr>
          </a:p>
        </p:txBody>
      </p:sp>
      <p:sp>
        <p:nvSpPr>
          <p:cNvPr id="13" name="Rectangle 12">
            <a:extLst>
              <a:ext uri="{FF2B5EF4-FFF2-40B4-BE49-F238E27FC236}">
                <a16:creationId xmlns:a16="http://schemas.microsoft.com/office/drawing/2014/main" id="{D2CBCD72-0FC6-41C2-9BC6-C34E6142A823}"/>
              </a:ext>
            </a:extLst>
          </p:cNvPr>
          <p:cNvSpPr/>
          <p:nvPr/>
        </p:nvSpPr>
        <p:spPr>
          <a:xfrm>
            <a:off x="369452" y="6400186"/>
            <a:ext cx="2103589" cy="307777"/>
          </a:xfrm>
          <a:prstGeom prst="rect">
            <a:avLst/>
          </a:prstGeom>
        </p:spPr>
        <p:txBody>
          <a:bodyPr wrap="none">
            <a:spAutoFit/>
          </a:bodyPr>
          <a:lstStyle/>
          <a:p>
            <a:r>
              <a:rPr lang="en-US" sz="1400" dirty="0"/>
              <a:t>*</a:t>
            </a:r>
            <a:r>
              <a:rPr lang="en-ZA" sz="1400" b="1" dirty="0"/>
              <a:t>All prices exclude VAT</a:t>
            </a:r>
            <a:endParaRPr lang="en-ZA" sz="1400" dirty="0"/>
          </a:p>
        </p:txBody>
      </p:sp>
    </p:spTree>
    <p:extLst>
      <p:ext uri="{BB962C8B-B14F-4D97-AF65-F5344CB8AC3E}">
        <p14:creationId xmlns:p14="http://schemas.microsoft.com/office/powerpoint/2010/main" val="12026689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D8651BDC-3F72-4E2D-B978-715E5B0BA5C3}"/>
              </a:ext>
            </a:extLst>
          </p:cNvPr>
          <p:cNvSpPr txBox="1">
            <a:spLocks/>
          </p:cNvSpPr>
          <p:nvPr/>
        </p:nvSpPr>
        <p:spPr>
          <a:xfrm>
            <a:off x="318567" y="1484165"/>
            <a:ext cx="8596668" cy="3378391"/>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fontAlgn="base">
              <a:buNone/>
            </a:pPr>
            <a:r>
              <a:rPr lang="en-US" sz="1400" dirty="0"/>
              <a:t>You might need to restore backup data if you encounter an accidental deletion, database corruption, or problem with a software upgrade. </a:t>
            </a:r>
            <a:r>
              <a:rPr lang="en-US" sz="1400" b="1" dirty="0"/>
              <a:t>Disaster recovery, on the other hand, refers to the plan and processes for quickly reestablishing access to applications, data, and IT resources after an outage</a:t>
            </a:r>
            <a:r>
              <a:rPr lang="en-US" sz="1400" dirty="0"/>
              <a:t>.</a:t>
            </a:r>
          </a:p>
          <a:p>
            <a:pPr marL="0" indent="0" fontAlgn="base">
              <a:buNone/>
            </a:pPr>
            <a:r>
              <a:rPr lang="en-US" sz="1400" dirty="0"/>
              <a:t>The purpose of the backup is </a:t>
            </a:r>
            <a:r>
              <a:rPr lang="en-US" sz="1400" b="1" dirty="0"/>
              <a:t>to create a copy of data that can be recovered in the event of a primary data failure</a:t>
            </a:r>
            <a:r>
              <a:rPr lang="en-US" sz="1400" dirty="0"/>
              <a:t>. Primary data failures can be the result of hardware or software failure, data corruption, or a human-caused event, such as a malicious attack (virus or malware), or accidental deletion of data.</a:t>
            </a:r>
          </a:p>
          <a:p>
            <a:pPr marL="0" indent="0">
              <a:buNone/>
            </a:pPr>
            <a:r>
              <a:rPr lang="en-US" sz="1400" dirty="0"/>
              <a:t>Sautech Operates on either VMWare or Hyper-V and have multiple datacenters as per the design document.</a:t>
            </a:r>
            <a:endParaRPr lang="en-ZA" sz="1400" dirty="0"/>
          </a:p>
          <a:p>
            <a:pPr marL="0" indent="0">
              <a:buNone/>
            </a:pPr>
            <a:r>
              <a:rPr lang="en-US" sz="1400" dirty="0"/>
              <a:t>We offer Replication and DR services between South Africa and Namibia.</a:t>
            </a:r>
            <a:endParaRPr lang="en-ZA" sz="1400" dirty="0"/>
          </a:p>
          <a:p>
            <a:pPr marL="0" indent="0">
              <a:buNone/>
            </a:pPr>
            <a:r>
              <a:rPr lang="en-US" sz="1400" dirty="0"/>
              <a:t>Backup services can also be hosted within our MPLS Network in either of the above mentioned countries. Our Services are provided using either Veeam or Hyper-V Microsoft Services.</a:t>
            </a:r>
            <a:endParaRPr lang="en-ZA" sz="1400" dirty="0"/>
          </a:p>
          <a:p>
            <a:pPr marL="0" indent="0">
              <a:buNone/>
            </a:pPr>
            <a:r>
              <a:rPr lang="en-US" sz="1400" dirty="0"/>
              <a:t>Our storage solution are built upon Synology Hyper-Backup</a:t>
            </a:r>
            <a:endParaRPr lang="en-ZA" sz="1400" dirty="0"/>
          </a:p>
          <a:p>
            <a:pPr marL="0" indent="0" fontAlgn="base">
              <a:buNone/>
            </a:pPr>
            <a:endParaRPr lang="en-US" sz="1400" dirty="0"/>
          </a:p>
          <a:p>
            <a:pPr marL="0" indent="0" fontAlgn="base">
              <a:buNone/>
            </a:pPr>
            <a:endParaRPr lang="en-US" sz="1400" dirty="0"/>
          </a:p>
          <a:p>
            <a:pPr marL="0" indent="0" fontAlgn="base">
              <a:buNone/>
            </a:pPr>
            <a:endParaRPr lang="en-ZA" sz="1400" dirty="0"/>
          </a:p>
        </p:txBody>
      </p:sp>
      <p:sp>
        <p:nvSpPr>
          <p:cNvPr id="6" name="Content Placeholder 10">
            <a:extLst>
              <a:ext uri="{FF2B5EF4-FFF2-40B4-BE49-F238E27FC236}">
                <a16:creationId xmlns:a16="http://schemas.microsoft.com/office/drawing/2014/main" id="{9C30A37A-921E-4A90-8E7F-E9757E799D26}"/>
              </a:ext>
            </a:extLst>
          </p:cNvPr>
          <p:cNvSpPr txBox="1">
            <a:spLocks/>
          </p:cNvSpPr>
          <p:nvPr/>
        </p:nvSpPr>
        <p:spPr>
          <a:xfrm>
            <a:off x="790045" y="4442820"/>
            <a:ext cx="7282393" cy="2054224"/>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US" dirty="0"/>
          </a:p>
          <a:p>
            <a:endParaRPr lang="en-ZA" dirty="0"/>
          </a:p>
        </p:txBody>
      </p:sp>
      <p:sp>
        <p:nvSpPr>
          <p:cNvPr id="7" name="Content Placeholder 10">
            <a:extLst>
              <a:ext uri="{FF2B5EF4-FFF2-40B4-BE49-F238E27FC236}">
                <a16:creationId xmlns:a16="http://schemas.microsoft.com/office/drawing/2014/main" id="{B573569C-4DF8-4D08-A11D-27220311C1ED}"/>
              </a:ext>
            </a:extLst>
          </p:cNvPr>
          <p:cNvSpPr txBox="1">
            <a:spLocks/>
          </p:cNvSpPr>
          <p:nvPr/>
        </p:nvSpPr>
        <p:spPr>
          <a:xfrm>
            <a:off x="318567" y="3817873"/>
            <a:ext cx="6325130" cy="3304117"/>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ZA" dirty="0"/>
          </a:p>
        </p:txBody>
      </p:sp>
      <p:sp>
        <p:nvSpPr>
          <p:cNvPr id="9" name="Rectangle 8">
            <a:extLst>
              <a:ext uri="{FF2B5EF4-FFF2-40B4-BE49-F238E27FC236}">
                <a16:creationId xmlns:a16="http://schemas.microsoft.com/office/drawing/2014/main" id="{5818A124-61AF-464C-8C87-0F5DD68A9329}"/>
              </a:ext>
            </a:extLst>
          </p:cNvPr>
          <p:cNvSpPr/>
          <p:nvPr/>
        </p:nvSpPr>
        <p:spPr>
          <a:xfrm>
            <a:off x="318567" y="559595"/>
            <a:ext cx="6861881" cy="523220"/>
          </a:xfrm>
          <a:prstGeom prst="rect">
            <a:avLst/>
          </a:prstGeom>
          <a:solidFill>
            <a:srgbClr val="002060"/>
          </a:solidFill>
        </p:spPr>
        <p:txBody>
          <a:bodyPr wrap="square">
            <a:spAutoFit/>
          </a:bodyPr>
          <a:lstStyle/>
          <a:p>
            <a:r>
              <a:rPr lang="en-US" sz="2800" dirty="0">
                <a:solidFill>
                  <a:schemeClr val="bg1"/>
                </a:solidFill>
              </a:rPr>
              <a:t>Disaster Recovery &amp; Backups </a:t>
            </a:r>
            <a:endParaRPr lang="en-ZA" sz="2800" dirty="0">
              <a:solidFill>
                <a:schemeClr val="bg1"/>
              </a:solidFill>
            </a:endParaRPr>
          </a:p>
        </p:txBody>
      </p:sp>
      <p:pic>
        <p:nvPicPr>
          <p:cNvPr id="11" name="Picture 10">
            <a:extLst>
              <a:ext uri="{FF2B5EF4-FFF2-40B4-BE49-F238E27FC236}">
                <a16:creationId xmlns:a16="http://schemas.microsoft.com/office/drawing/2014/main" id="{E1BC5007-E91B-4E3A-A316-F55FA0E0E79D}"/>
              </a:ext>
            </a:extLst>
          </p:cNvPr>
          <p:cNvPicPr>
            <a:picLocks noChangeAspect="1"/>
          </p:cNvPicPr>
          <p:nvPr/>
        </p:nvPicPr>
        <p:blipFill>
          <a:blip r:embed="rId2"/>
          <a:stretch>
            <a:fillRect/>
          </a:stretch>
        </p:blipFill>
        <p:spPr>
          <a:xfrm>
            <a:off x="2925103" y="4956733"/>
            <a:ext cx="3712489" cy="1735710"/>
          </a:xfrm>
          <a:prstGeom prst="rect">
            <a:avLst/>
          </a:prstGeom>
          <a:ln>
            <a:solidFill>
              <a:schemeClr val="accent2"/>
            </a:solidFill>
          </a:ln>
        </p:spPr>
      </p:pic>
    </p:spTree>
    <p:extLst>
      <p:ext uri="{BB962C8B-B14F-4D97-AF65-F5344CB8AC3E}">
        <p14:creationId xmlns:p14="http://schemas.microsoft.com/office/powerpoint/2010/main" val="13926279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7E18204-52AD-47CE-8A60-11EC01AF4788}"/>
              </a:ext>
            </a:extLst>
          </p:cNvPr>
          <p:cNvSpPr/>
          <p:nvPr/>
        </p:nvSpPr>
        <p:spPr>
          <a:xfrm>
            <a:off x="386605" y="541775"/>
            <a:ext cx="6861881" cy="523220"/>
          </a:xfrm>
          <a:prstGeom prst="rect">
            <a:avLst/>
          </a:prstGeom>
          <a:solidFill>
            <a:srgbClr val="002060"/>
          </a:solidFill>
        </p:spPr>
        <p:txBody>
          <a:bodyPr wrap="square">
            <a:spAutoFit/>
          </a:bodyPr>
          <a:lstStyle/>
          <a:p>
            <a:r>
              <a:rPr lang="en-US" sz="2800" dirty="0">
                <a:solidFill>
                  <a:schemeClr val="bg1"/>
                </a:solidFill>
              </a:rPr>
              <a:t>Reseller Pricing  </a:t>
            </a:r>
            <a:endParaRPr lang="en-ZA" sz="2800" dirty="0">
              <a:solidFill>
                <a:schemeClr val="bg1"/>
              </a:solidFill>
            </a:endParaRPr>
          </a:p>
        </p:txBody>
      </p:sp>
      <p:graphicFrame>
        <p:nvGraphicFramePr>
          <p:cNvPr id="16" name="Table 15">
            <a:extLst>
              <a:ext uri="{FF2B5EF4-FFF2-40B4-BE49-F238E27FC236}">
                <a16:creationId xmlns:a16="http://schemas.microsoft.com/office/drawing/2014/main" id="{DC6D49D5-11F9-4C8B-88F9-A9B1CCE82F3A}"/>
              </a:ext>
            </a:extLst>
          </p:cNvPr>
          <p:cNvGraphicFramePr>
            <a:graphicFrameLocks noGrp="1"/>
          </p:cNvGraphicFramePr>
          <p:nvPr>
            <p:extLst>
              <p:ext uri="{D42A27DB-BD31-4B8C-83A1-F6EECF244321}">
                <p14:modId xmlns:p14="http://schemas.microsoft.com/office/powerpoint/2010/main" val="2698941870"/>
              </p:ext>
            </p:extLst>
          </p:nvPr>
        </p:nvGraphicFramePr>
        <p:xfrm>
          <a:off x="419450" y="1405093"/>
          <a:ext cx="3766657" cy="2219325"/>
        </p:xfrm>
        <a:graphic>
          <a:graphicData uri="http://schemas.openxmlformats.org/drawingml/2006/table">
            <a:tbl>
              <a:tblPr>
                <a:tableStyleId>{5C22544A-7EE6-4342-B048-85BDC9FD1C3A}</a:tableStyleId>
              </a:tblPr>
              <a:tblGrid>
                <a:gridCol w="3078760">
                  <a:extLst>
                    <a:ext uri="{9D8B030D-6E8A-4147-A177-3AD203B41FA5}">
                      <a16:colId xmlns:a16="http://schemas.microsoft.com/office/drawing/2014/main" val="3635464889"/>
                    </a:ext>
                  </a:extLst>
                </a:gridCol>
                <a:gridCol w="687897">
                  <a:extLst>
                    <a:ext uri="{9D8B030D-6E8A-4147-A177-3AD203B41FA5}">
                      <a16:colId xmlns:a16="http://schemas.microsoft.com/office/drawing/2014/main" val="4240120241"/>
                    </a:ext>
                  </a:extLst>
                </a:gridCol>
              </a:tblGrid>
              <a:tr h="211243">
                <a:tc gridSpan="2">
                  <a:txBody>
                    <a:bodyPr/>
                    <a:lstStyle/>
                    <a:p>
                      <a:pPr algn="ctr" fontAlgn="b"/>
                      <a:r>
                        <a:rPr lang="en-ZA" sz="1400" b="0" i="0" u="sng" strike="noStrike" dirty="0">
                          <a:solidFill>
                            <a:schemeClr val="bg1"/>
                          </a:solidFill>
                          <a:effectLst/>
                          <a:latin typeface="+mn-lt"/>
                        </a:rPr>
                        <a:t>Virtual Server:</a:t>
                      </a:r>
                    </a:p>
                  </a:txBody>
                  <a:tcPr marL="9525" marR="9525" marT="9525" marB="0" anchor="b">
                    <a:lnB w="12700" cap="flat" cmpd="sng" algn="ctr">
                      <a:noFill/>
                      <a:prstDash val="solid"/>
                      <a:round/>
                      <a:headEnd type="none" w="med" len="med"/>
                      <a:tailEnd type="none" w="med" len="med"/>
                    </a:lnB>
                    <a:solidFill>
                      <a:schemeClr val="bg1">
                        <a:lumMod val="50000"/>
                      </a:schemeClr>
                    </a:solidFill>
                  </a:tcPr>
                </a:tc>
                <a:tc hMerge="1">
                  <a:txBody>
                    <a:bodyPr/>
                    <a:lstStyle/>
                    <a:p>
                      <a:pPr algn="ctr" fontAlgn="b"/>
                      <a:endParaRPr lang="en-ZA" sz="1400" b="0" i="0" u="none" strike="noStrike" dirty="0">
                        <a:solidFill>
                          <a:srgbClr val="000000"/>
                        </a:solidFill>
                        <a:effectLst/>
                        <a:latin typeface="+mn-lt"/>
                      </a:endParaRPr>
                    </a:p>
                  </a:txBody>
                  <a:tcPr marL="9525" marR="9525" marT="9525" marB="0" anchor="b">
                    <a:solidFill>
                      <a:srgbClr val="C5ECF9"/>
                    </a:solidFill>
                  </a:tcPr>
                </a:tc>
                <a:extLst>
                  <a:ext uri="{0D108BD9-81ED-4DB2-BD59-A6C34878D82A}">
                    <a16:rowId xmlns:a16="http://schemas.microsoft.com/office/drawing/2014/main" val="1627817745"/>
                  </a:ext>
                </a:extLst>
              </a:tr>
              <a:tr h="211243">
                <a:tc>
                  <a:txBody>
                    <a:bodyPr/>
                    <a:lstStyle/>
                    <a:p>
                      <a:pPr algn="l" fontAlgn="b"/>
                      <a:r>
                        <a:rPr lang="en-ZA" sz="1400" b="0" i="0" u="none" strike="noStrike" dirty="0">
                          <a:solidFill>
                            <a:srgbClr val="000000"/>
                          </a:solidFill>
                          <a:effectLst/>
                          <a:latin typeface="+mn-lt"/>
                        </a:rPr>
                        <a:t>Virtual Serve Base</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n-ZA" sz="1400" b="0" i="0" u="none" strike="noStrike" dirty="0">
                          <a:solidFill>
                            <a:srgbClr val="000000"/>
                          </a:solidFill>
                          <a:effectLst/>
                          <a:latin typeface="+mn-lt"/>
                        </a:rPr>
                        <a:t>R250</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37077463"/>
                  </a:ext>
                </a:extLst>
              </a:tr>
              <a:tr h="211243">
                <a:tc>
                  <a:txBody>
                    <a:bodyPr/>
                    <a:lstStyle/>
                    <a:p>
                      <a:pPr algn="l" fontAlgn="b"/>
                      <a:r>
                        <a:rPr lang="en-ZA" sz="1400" b="0" i="0" u="none" strike="noStrike" dirty="0">
                          <a:solidFill>
                            <a:srgbClr val="000000"/>
                          </a:solidFill>
                          <a:effectLst/>
                          <a:latin typeface="+mn-lt"/>
                        </a:rPr>
                        <a:t> - per vCPU x2</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ZA" sz="1400" b="0" i="0" u="none" strike="noStrike" dirty="0">
                        <a:solidFill>
                          <a:srgbClr val="000000"/>
                        </a:solidFill>
                        <a:effectLst/>
                        <a:latin typeface="+mn-lt"/>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8398276"/>
                  </a:ext>
                </a:extLst>
              </a:tr>
              <a:tr h="211243">
                <a:tc>
                  <a:txBody>
                    <a:bodyPr/>
                    <a:lstStyle/>
                    <a:p>
                      <a:pPr algn="l" fontAlgn="b"/>
                      <a:r>
                        <a:rPr lang="en-ZA" sz="1400" b="0" i="0" u="none" strike="noStrike" dirty="0">
                          <a:solidFill>
                            <a:srgbClr val="000000"/>
                          </a:solidFill>
                          <a:effectLst/>
                          <a:latin typeface="+mn-lt"/>
                        </a:rPr>
                        <a:t> - per vRam x4</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ZA" sz="1400" b="0" i="0" u="none" strike="noStrike" dirty="0">
                        <a:solidFill>
                          <a:srgbClr val="000000"/>
                        </a:solidFill>
                        <a:effectLst/>
                        <a:latin typeface="+mn-lt"/>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8311054"/>
                  </a:ext>
                </a:extLst>
              </a:tr>
              <a:tr h="413458">
                <a:tc>
                  <a:txBody>
                    <a:bodyPr/>
                    <a:lstStyle/>
                    <a:p>
                      <a:pPr algn="l" fontAlgn="b"/>
                      <a:r>
                        <a:rPr lang="it-IT" sz="1400" b="0" i="0" u="none" strike="noStrike" dirty="0">
                          <a:solidFill>
                            <a:srgbClr val="000000"/>
                          </a:solidFill>
                          <a:effectLst/>
                          <a:latin typeface="+mn-lt"/>
                        </a:rPr>
                        <a:t> - per vHDD (SATA) per GB x250GB Included </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ZA" sz="1400" b="0" i="0" u="none" strike="noStrike" dirty="0">
                        <a:solidFill>
                          <a:srgbClr val="000000"/>
                        </a:solidFill>
                        <a:effectLst/>
                        <a:latin typeface="+mn-lt"/>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46504773"/>
                  </a:ext>
                </a:extLst>
              </a:tr>
              <a:tr h="211243">
                <a:tc>
                  <a:txBody>
                    <a:bodyPr/>
                    <a:lstStyle/>
                    <a:p>
                      <a:pPr algn="l" fontAlgn="b"/>
                      <a:r>
                        <a:rPr lang="en-ZA" sz="1400" b="0" i="0" u="none" strike="noStrike" dirty="0">
                          <a:solidFill>
                            <a:srgbClr val="000000"/>
                          </a:solidFill>
                          <a:effectLst/>
                          <a:latin typeface="+mn-lt"/>
                        </a:rPr>
                        <a:t> - 20GB Data included </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ZA" sz="1400" b="0" i="0" u="none" strike="noStrike" dirty="0">
                        <a:solidFill>
                          <a:srgbClr val="000000"/>
                        </a:solidFill>
                        <a:effectLst/>
                        <a:latin typeface="+mn-lt"/>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55482733"/>
                  </a:ext>
                </a:extLst>
              </a:tr>
              <a:tr h="211243">
                <a:tc gridSpan="2">
                  <a:txBody>
                    <a:bodyPr/>
                    <a:lstStyle/>
                    <a:p>
                      <a:pPr algn="ctr" fontAlgn="b"/>
                      <a:r>
                        <a:rPr lang="en-US" sz="1400" b="0" i="0" u="sng" strike="noStrike" dirty="0">
                          <a:solidFill>
                            <a:schemeClr val="bg1"/>
                          </a:solidFill>
                          <a:effectLst/>
                          <a:latin typeface="+mn-lt"/>
                        </a:rPr>
                        <a:t>Additional service</a:t>
                      </a:r>
                      <a:endParaRPr lang="en-ZA" sz="1400" b="0" i="0" u="sng" strike="noStrike" dirty="0">
                        <a:solidFill>
                          <a:schemeClr val="bg1"/>
                        </a:solidFill>
                        <a:effectLst/>
                        <a:latin typeface="+mn-lt"/>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hMerge="1">
                  <a:txBody>
                    <a:bodyPr/>
                    <a:lstStyle/>
                    <a:p>
                      <a:pPr algn="l" fontAlgn="b"/>
                      <a:endParaRPr lang="en-ZA" sz="1400" b="0" i="0" u="none" strike="noStrike" dirty="0">
                        <a:solidFill>
                          <a:srgbClr val="000000"/>
                        </a:solidFill>
                        <a:effectLst/>
                        <a:latin typeface="+mn-lt"/>
                      </a:endParaRPr>
                    </a:p>
                  </a:txBody>
                  <a:tcPr marL="9525" marR="9525" marT="9525" marB="0" anchor="b">
                    <a:solidFill>
                      <a:srgbClr val="C5ECF9"/>
                    </a:solidFill>
                  </a:tcPr>
                </a:tc>
                <a:extLst>
                  <a:ext uri="{0D108BD9-81ED-4DB2-BD59-A6C34878D82A}">
                    <a16:rowId xmlns:a16="http://schemas.microsoft.com/office/drawing/2014/main" val="4076862869"/>
                  </a:ext>
                </a:extLst>
              </a:tr>
              <a:tr h="211243">
                <a:tc>
                  <a:txBody>
                    <a:bodyPr/>
                    <a:lstStyle/>
                    <a:p>
                      <a:pPr algn="l" fontAlgn="b"/>
                      <a:r>
                        <a:rPr lang="en-US" sz="1400" b="0" i="0" u="none" strike="noStrike" dirty="0">
                          <a:solidFill>
                            <a:srgbClr val="000000"/>
                          </a:solidFill>
                          <a:effectLst/>
                          <a:latin typeface="+mn-lt"/>
                        </a:rPr>
                        <a:t>Over &amp; Above per GB Bandwidth </a:t>
                      </a:r>
                      <a:endParaRPr lang="en-ZA" sz="1400" b="0" i="0" u="none" strike="noStrike" dirty="0">
                        <a:solidFill>
                          <a:srgbClr val="000000"/>
                        </a:solidFill>
                        <a:effectLst/>
                        <a:latin typeface="+mn-lt"/>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n-US" sz="1400" b="0" i="0" u="none" strike="noStrike" dirty="0">
                          <a:solidFill>
                            <a:srgbClr val="000000"/>
                          </a:solidFill>
                          <a:effectLst/>
                          <a:latin typeface="+mn-lt"/>
                        </a:rPr>
                        <a:t>R0.35</a:t>
                      </a:r>
                      <a:endParaRPr lang="en-ZA" sz="1400" b="0" i="0" u="none" strike="noStrike" dirty="0">
                        <a:solidFill>
                          <a:srgbClr val="000000"/>
                        </a:solidFill>
                        <a:effectLst/>
                        <a:latin typeface="+mn-lt"/>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17278022"/>
                  </a:ext>
                </a:extLst>
              </a:tr>
              <a:tr h="211243">
                <a:tc>
                  <a:txBody>
                    <a:bodyPr/>
                    <a:lstStyle/>
                    <a:p>
                      <a:pPr algn="l" fontAlgn="b"/>
                      <a:endParaRPr lang="en-ZA" sz="1400" b="0" i="0" u="none" strike="noStrike" dirty="0">
                        <a:solidFill>
                          <a:srgbClr val="000000"/>
                        </a:solidFill>
                        <a:effectLst/>
                        <a:latin typeface="+mn-lt"/>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ZA" sz="1400" b="0" i="0" u="none" strike="noStrike" dirty="0">
                        <a:solidFill>
                          <a:srgbClr val="000000"/>
                        </a:solidFill>
                        <a:effectLst/>
                        <a:latin typeface="+mn-lt"/>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66122230"/>
                  </a:ext>
                </a:extLst>
              </a:tr>
            </a:tbl>
          </a:graphicData>
        </a:graphic>
      </p:graphicFrame>
      <p:graphicFrame>
        <p:nvGraphicFramePr>
          <p:cNvPr id="18" name="Table 17">
            <a:extLst>
              <a:ext uri="{FF2B5EF4-FFF2-40B4-BE49-F238E27FC236}">
                <a16:creationId xmlns:a16="http://schemas.microsoft.com/office/drawing/2014/main" id="{9B2C308E-B371-4432-A7CD-1B3256BD0F7A}"/>
              </a:ext>
            </a:extLst>
          </p:cNvPr>
          <p:cNvGraphicFramePr>
            <a:graphicFrameLocks noGrp="1"/>
          </p:cNvGraphicFramePr>
          <p:nvPr>
            <p:extLst>
              <p:ext uri="{D42A27DB-BD31-4B8C-83A1-F6EECF244321}">
                <p14:modId xmlns:p14="http://schemas.microsoft.com/office/powerpoint/2010/main" val="1519675881"/>
              </p:ext>
            </p:extLst>
          </p:nvPr>
        </p:nvGraphicFramePr>
        <p:xfrm>
          <a:off x="419450" y="3829154"/>
          <a:ext cx="3832313" cy="2005965"/>
        </p:xfrm>
        <a:graphic>
          <a:graphicData uri="http://schemas.openxmlformats.org/drawingml/2006/table">
            <a:tbl>
              <a:tblPr>
                <a:tableStyleId>{5C22544A-7EE6-4342-B048-85BDC9FD1C3A}</a:tableStyleId>
              </a:tblPr>
              <a:tblGrid>
                <a:gridCol w="3145160">
                  <a:extLst>
                    <a:ext uri="{9D8B030D-6E8A-4147-A177-3AD203B41FA5}">
                      <a16:colId xmlns:a16="http://schemas.microsoft.com/office/drawing/2014/main" val="3187084307"/>
                    </a:ext>
                  </a:extLst>
                </a:gridCol>
                <a:gridCol w="687153">
                  <a:extLst>
                    <a:ext uri="{9D8B030D-6E8A-4147-A177-3AD203B41FA5}">
                      <a16:colId xmlns:a16="http://schemas.microsoft.com/office/drawing/2014/main" val="4122428771"/>
                    </a:ext>
                  </a:extLst>
                </a:gridCol>
              </a:tblGrid>
              <a:tr h="190500">
                <a:tc gridSpan="2">
                  <a:txBody>
                    <a:bodyPr/>
                    <a:lstStyle/>
                    <a:p>
                      <a:pPr algn="ctr" fontAlgn="b"/>
                      <a:r>
                        <a:rPr lang="en-ZA" sz="1400" u="sng" strike="noStrike" dirty="0">
                          <a:solidFill>
                            <a:schemeClr val="bg1"/>
                          </a:solidFill>
                          <a:effectLst/>
                          <a:latin typeface="+mn-lt"/>
                        </a:rPr>
                        <a:t>Physical Server:</a:t>
                      </a:r>
                      <a:endParaRPr lang="en-ZA" sz="1400" b="1" i="0" u="sng" strike="noStrike" dirty="0">
                        <a:solidFill>
                          <a:schemeClr val="bg1"/>
                        </a:solidFill>
                        <a:effectLst/>
                        <a:latin typeface="+mn-lt"/>
                      </a:endParaRPr>
                    </a:p>
                  </a:txBody>
                  <a:tcPr marL="9525" marR="9525" marT="9525" marB="0" anchor="b">
                    <a:solidFill>
                      <a:schemeClr val="bg1">
                        <a:lumMod val="50000"/>
                      </a:schemeClr>
                    </a:solidFill>
                  </a:tcPr>
                </a:tc>
                <a:tc hMerge="1">
                  <a:txBody>
                    <a:bodyPr/>
                    <a:lstStyle/>
                    <a:p>
                      <a:pPr algn="l" fontAlgn="b"/>
                      <a:endParaRPr lang="en-ZA" sz="1400" b="0" i="0" u="none" strike="noStrike" dirty="0">
                        <a:solidFill>
                          <a:srgbClr val="000000"/>
                        </a:solidFill>
                        <a:effectLst/>
                        <a:latin typeface="+mn-lt"/>
                      </a:endParaRPr>
                    </a:p>
                  </a:txBody>
                  <a:tcPr marL="9525" marR="9525" marT="9525" marB="0" anchor="b">
                    <a:solidFill>
                      <a:srgbClr val="C5ECF9"/>
                    </a:solidFill>
                  </a:tcPr>
                </a:tc>
                <a:extLst>
                  <a:ext uri="{0D108BD9-81ED-4DB2-BD59-A6C34878D82A}">
                    <a16:rowId xmlns:a16="http://schemas.microsoft.com/office/drawing/2014/main" val="1419443920"/>
                  </a:ext>
                </a:extLst>
              </a:tr>
              <a:tr h="190500">
                <a:tc>
                  <a:txBody>
                    <a:bodyPr/>
                    <a:lstStyle/>
                    <a:p>
                      <a:pPr algn="l" fontAlgn="b"/>
                      <a:r>
                        <a:rPr lang="en-ZA" sz="1400" u="none" strike="noStrike" dirty="0">
                          <a:effectLst/>
                          <a:latin typeface="+mn-lt"/>
                        </a:rPr>
                        <a:t>Dell Server</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ZA" sz="1400" u="none" strike="noStrike" dirty="0">
                          <a:effectLst/>
                          <a:latin typeface="+mn-lt"/>
                        </a:rPr>
                        <a:t>R1500</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2221202446"/>
                  </a:ext>
                </a:extLst>
              </a:tr>
              <a:tr h="190500">
                <a:tc>
                  <a:txBody>
                    <a:bodyPr/>
                    <a:lstStyle/>
                    <a:p>
                      <a:pPr algn="l" fontAlgn="b"/>
                      <a:r>
                        <a:rPr lang="en-ZA" sz="1400" u="none" strike="noStrike" dirty="0">
                          <a:effectLst/>
                          <a:latin typeface="+mn-lt"/>
                        </a:rPr>
                        <a:t> - Dual Quad Core Xeon</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2944257662"/>
                  </a:ext>
                </a:extLst>
              </a:tr>
              <a:tr h="190500">
                <a:tc>
                  <a:txBody>
                    <a:bodyPr/>
                    <a:lstStyle/>
                    <a:p>
                      <a:pPr algn="l" fontAlgn="b"/>
                      <a:r>
                        <a:rPr lang="en-ZA" sz="1400" u="none" strike="noStrike" dirty="0">
                          <a:effectLst/>
                          <a:latin typeface="+mn-lt"/>
                        </a:rPr>
                        <a:t> - 64GB Ram</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3567316438"/>
                  </a:ext>
                </a:extLst>
              </a:tr>
              <a:tr h="190500">
                <a:tc>
                  <a:txBody>
                    <a:bodyPr/>
                    <a:lstStyle/>
                    <a:p>
                      <a:pPr algn="l" fontAlgn="b"/>
                      <a:r>
                        <a:rPr lang="en-ZA" sz="1400" u="none" strike="noStrike" dirty="0">
                          <a:effectLst/>
                          <a:latin typeface="+mn-lt"/>
                        </a:rPr>
                        <a:t> - 8TB SATA Disk Space</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1840590155"/>
                  </a:ext>
                </a:extLst>
              </a:tr>
              <a:tr h="190500">
                <a:tc>
                  <a:txBody>
                    <a:bodyPr/>
                    <a:lstStyle/>
                    <a:p>
                      <a:pPr algn="l" fontAlgn="b"/>
                      <a:r>
                        <a:rPr lang="en-ZA" sz="1400" u="none" strike="noStrike" dirty="0">
                          <a:effectLst/>
                          <a:latin typeface="+mn-lt"/>
                        </a:rPr>
                        <a:t> - 100GB Data Included </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4148481914"/>
                  </a:ext>
                </a:extLst>
              </a:tr>
              <a:tr h="190500">
                <a:tc gridSpan="2">
                  <a:txBody>
                    <a:bodyPr/>
                    <a:lstStyle/>
                    <a:p>
                      <a:pPr marL="0" marR="0" lvl="0" indent="0" algn="ctr" defTabSz="457200" rtl="0" eaLnBrk="1" fontAlgn="b" latinLnBrk="0" hangingPunct="1">
                        <a:lnSpc>
                          <a:spcPct val="100000"/>
                        </a:lnSpc>
                        <a:spcBef>
                          <a:spcPts val="0"/>
                        </a:spcBef>
                        <a:spcAft>
                          <a:spcPts val="0"/>
                        </a:spcAft>
                        <a:buClrTx/>
                        <a:buSzTx/>
                        <a:buFontTx/>
                        <a:buNone/>
                        <a:tabLst/>
                        <a:defRPr/>
                      </a:pPr>
                      <a:r>
                        <a:rPr lang="en-US" sz="1400" b="0" i="0" u="sng" strike="noStrike" dirty="0">
                          <a:solidFill>
                            <a:schemeClr val="bg1"/>
                          </a:solidFill>
                          <a:effectLst/>
                          <a:latin typeface="+mn-lt"/>
                        </a:rPr>
                        <a:t>Additional service</a:t>
                      </a:r>
                      <a:endParaRPr lang="en-ZA" sz="1400" b="0" i="0" u="sng" strike="noStrike" dirty="0">
                        <a:solidFill>
                          <a:schemeClr val="bg1"/>
                        </a:solidFill>
                        <a:effectLst/>
                        <a:latin typeface="+mn-lt"/>
                      </a:endParaRPr>
                    </a:p>
                  </a:txBody>
                  <a:tcPr marL="9525" marR="9525" marT="9525" marB="0" anchor="b">
                    <a:solidFill>
                      <a:schemeClr val="bg1">
                        <a:lumMod val="50000"/>
                      </a:schemeClr>
                    </a:solidFill>
                  </a:tcPr>
                </a:tc>
                <a:tc hMerge="1">
                  <a:txBody>
                    <a:bodyPr/>
                    <a:lstStyle/>
                    <a:p>
                      <a:pPr algn="l" fontAlgn="b"/>
                      <a:endParaRPr lang="en-ZA" sz="1400" b="0" i="0" u="none" strike="noStrike" dirty="0">
                        <a:solidFill>
                          <a:srgbClr val="000000"/>
                        </a:solidFill>
                        <a:effectLst/>
                        <a:latin typeface="+mn-lt"/>
                      </a:endParaRPr>
                    </a:p>
                  </a:txBody>
                  <a:tcPr marL="9525" marR="9525" marT="9525" marB="0" anchor="b">
                    <a:solidFill>
                      <a:srgbClr val="C5ECF9"/>
                    </a:solidFill>
                  </a:tcPr>
                </a:tc>
                <a:extLst>
                  <a:ext uri="{0D108BD9-81ED-4DB2-BD59-A6C34878D82A}">
                    <a16:rowId xmlns:a16="http://schemas.microsoft.com/office/drawing/2014/main" val="1617350681"/>
                  </a:ext>
                </a:extLst>
              </a:tr>
              <a:tr h="190500">
                <a:tc>
                  <a:txBody>
                    <a:bodyPr/>
                    <a:lstStyle/>
                    <a:p>
                      <a:pPr algn="l" fontAlgn="b"/>
                      <a:r>
                        <a:rPr lang="en-US" sz="1400" b="0" i="0" u="none" strike="noStrike" dirty="0">
                          <a:solidFill>
                            <a:srgbClr val="000000"/>
                          </a:solidFill>
                          <a:effectLst/>
                          <a:latin typeface="+mn-lt"/>
                        </a:rPr>
                        <a:t>Over &amp; Above per GB Bandwidth</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US" sz="1400" b="0" i="0" u="none" strike="noStrike" dirty="0">
                          <a:solidFill>
                            <a:srgbClr val="000000"/>
                          </a:solidFill>
                          <a:effectLst/>
                          <a:latin typeface="+mn-lt"/>
                        </a:rPr>
                        <a:t>R0.35</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902535465"/>
                  </a:ext>
                </a:extLst>
              </a:tr>
              <a:tr h="190500">
                <a:tc>
                  <a:txBody>
                    <a:bodyPr/>
                    <a:lstStyle/>
                    <a:p>
                      <a:pPr algn="l" fontAlgn="b"/>
                      <a:endParaRPr lang="en-ZA" sz="1400" b="0" i="0" u="none" strike="noStrike" dirty="0">
                        <a:solidFill>
                          <a:srgbClr val="000000"/>
                        </a:solidFill>
                        <a:effectLst/>
                        <a:latin typeface="+mn-lt"/>
                      </a:endParaRPr>
                    </a:p>
                  </a:txBody>
                  <a:tcPr marL="9525" marR="9525" marT="9525" marB="0" anchor="b">
                    <a:noFill/>
                  </a:tcPr>
                </a:tc>
                <a:tc>
                  <a:txBody>
                    <a:bodyPr/>
                    <a:lstStyle/>
                    <a:p>
                      <a:pPr algn="l" fontAlgn="b"/>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3118490606"/>
                  </a:ext>
                </a:extLst>
              </a:tr>
            </a:tbl>
          </a:graphicData>
        </a:graphic>
      </p:graphicFrame>
      <p:sp>
        <p:nvSpPr>
          <p:cNvPr id="5" name="Rectangle 4">
            <a:extLst>
              <a:ext uri="{FF2B5EF4-FFF2-40B4-BE49-F238E27FC236}">
                <a16:creationId xmlns:a16="http://schemas.microsoft.com/office/drawing/2014/main" id="{2B9755EF-2A3A-49BB-962B-DAB238BB5B4F}"/>
              </a:ext>
            </a:extLst>
          </p:cNvPr>
          <p:cNvSpPr/>
          <p:nvPr/>
        </p:nvSpPr>
        <p:spPr>
          <a:xfrm>
            <a:off x="386605" y="5946893"/>
            <a:ext cx="2103589" cy="307777"/>
          </a:xfrm>
          <a:prstGeom prst="rect">
            <a:avLst/>
          </a:prstGeom>
        </p:spPr>
        <p:txBody>
          <a:bodyPr wrap="none">
            <a:spAutoFit/>
          </a:bodyPr>
          <a:lstStyle/>
          <a:p>
            <a:r>
              <a:rPr lang="en-US" sz="1400" dirty="0"/>
              <a:t>*</a:t>
            </a:r>
            <a:r>
              <a:rPr lang="en-ZA" sz="1400" b="1" dirty="0"/>
              <a:t>All prices exclude VAT</a:t>
            </a:r>
            <a:endParaRPr lang="en-ZA" sz="1400" dirty="0"/>
          </a:p>
        </p:txBody>
      </p:sp>
    </p:spTree>
    <p:extLst>
      <p:ext uri="{BB962C8B-B14F-4D97-AF65-F5344CB8AC3E}">
        <p14:creationId xmlns:p14="http://schemas.microsoft.com/office/powerpoint/2010/main" val="33007691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A8B993A7-9311-4C66-857D-71213B2B51FC}"/>
              </a:ext>
            </a:extLst>
          </p:cNvPr>
          <p:cNvGraphicFramePr>
            <a:graphicFrameLocks noGrp="1"/>
          </p:cNvGraphicFramePr>
          <p:nvPr>
            <p:extLst>
              <p:ext uri="{D42A27DB-BD31-4B8C-83A1-F6EECF244321}">
                <p14:modId xmlns:p14="http://schemas.microsoft.com/office/powerpoint/2010/main" val="3194874329"/>
              </p:ext>
            </p:extLst>
          </p:nvPr>
        </p:nvGraphicFramePr>
        <p:xfrm>
          <a:off x="4295874" y="1389479"/>
          <a:ext cx="3220662" cy="2228850"/>
        </p:xfrm>
        <a:graphic>
          <a:graphicData uri="http://schemas.openxmlformats.org/drawingml/2006/table">
            <a:tbl>
              <a:tblPr>
                <a:tableStyleId>{5C22544A-7EE6-4342-B048-85BDC9FD1C3A}</a:tableStyleId>
              </a:tblPr>
              <a:tblGrid>
                <a:gridCol w="2462309">
                  <a:extLst>
                    <a:ext uri="{9D8B030D-6E8A-4147-A177-3AD203B41FA5}">
                      <a16:colId xmlns:a16="http://schemas.microsoft.com/office/drawing/2014/main" val="1956708503"/>
                    </a:ext>
                  </a:extLst>
                </a:gridCol>
                <a:gridCol w="758353">
                  <a:extLst>
                    <a:ext uri="{9D8B030D-6E8A-4147-A177-3AD203B41FA5}">
                      <a16:colId xmlns:a16="http://schemas.microsoft.com/office/drawing/2014/main" val="911358854"/>
                    </a:ext>
                  </a:extLst>
                </a:gridCol>
              </a:tblGrid>
              <a:tr h="190500">
                <a:tc gridSpan="2">
                  <a:txBody>
                    <a:bodyPr/>
                    <a:lstStyle/>
                    <a:p>
                      <a:pPr algn="ctr" fontAlgn="b"/>
                      <a:r>
                        <a:rPr lang="en-ZA" sz="1400" u="sng" strike="noStrike" dirty="0">
                          <a:solidFill>
                            <a:schemeClr val="bg1"/>
                          </a:solidFill>
                          <a:effectLst/>
                          <a:latin typeface="+mn-lt"/>
                        </a:rPr>
                        <a:t>Hosted Exchange</a:t>
                      </a:r>
                      <a:endParaRPr lang="en-ZA" sz="1400" b="1" i="0" u="sng" strike="noStrike" dirty="0">
                        <a:solidFill>
                          <a:schemeClr val="bg1"/>
                        </a:solidFill>
                        <a:effectLst/>
                        <a:latin typeface="+mn-lt"/>
                      </a:endParaRPr>
                    </a:p>
                  </a:txBody>
                  <a:tcPr marL="9525" marR="9525" marT="9525" marB="0" anchor="b">
                    <a:solidFill>
                      <a:schemeClr val="bg1">
                        <a:lumMod val="50000"/>
                      </a:schemeClr>
                    </a:solidFill>
                  </a:tcPr>
                </a:tc>
                <a:tc hMerge="1">
                  <a:txBody>
                    <a:bodyPr/>
                    <a:lstStyle/>
                    <a:p>
                      <a:pPr algn="ctr" fontAlgn="b"/>
                      <a:endParaRPr lang="en-ZA" sz="1400" b="1" i="0" u="sng" strike="noStrike" dirty="0">
                        <a:solidFill>
                          <a:srgbClr val="000000"/>
                        </a:solidFill>
                        <a:effectLst/>
                        <a:latin typeface="+mn-lt"/>
                      </a:endParaRPr>
                    </a:p>
                  </a:txBody>
                  <a:tcPr marL="9525" marR="9525" marT="9525" marB="0" anchor="b">
                    <a:solidFill>
                      <a:srgbClr val="C5ECF9"/>
                    </a:solidFill>
                  </a:tcPr>
                </a:tc>
                <a:extLst>
                  <a:ext uri="{0D108BD9-81ED-4DB2-BD59-A6C34878D82A}">
                    <a16:rowId xmlns:a16="http://schemas.microsoft.com/office/drawing/2014/main" val="3802506057"/>
                  </a:ext>
                </a:extLst>
              </a:tr>
              <a:tr h="96895">
                <a:tc>
                  <a:txBody>
                    <a:bodyPr/>
                    <a:lstStyle/>
                    <a:p>
                      <a:pPr algn="l" fontAlgn="b"/>
                      <a:r>
                        <a:rPr lang="en-ZA" sz="1400" u="none" strike="noStrike" dirty="0">
                          <a:effectLst/>
                          <a:latin typeface="+mn-lt"/>
                        </a:rPr>
                        <a:t>Exchange Mailbox - 50GB</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ZA" sz="1400" u="none" strike="noStrike" dirty="0">
                          <a:effectLst/>
                          <a:latin typeface="+mn-lt"/>
                        </a:rPr>
                        <a:t>R59</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3852904207"/>
                  </a:ext>
                </a:extLst>
              </a:tr>
              <a:tr h="190500">
                <a:tc>
                  <a:txBody>
                    <a:bodyPr/>
                    <a:lstStyle/>
                    <a:p>
                      <a:pPr algn="l" fontAlgn="b"/>
                      <a:r>
                        <a:rPr lang="en-ZA" sz="1400" u="none" strike="noStrike" dirty="0">
                          <a:effectLst/>
                          <a:latin typeface="+mn-lt"/>
                        </a:rPr>
                        <a:t>Exchange Mailbox - 100GB</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US" sz="1400" b="0" i="0" u="none" strike="noStrike" dirty="0">
                          <a:solidFill>
                            <a:srgbClr val="000000"/>
                          </a:solidFill>
                          <a:effectLst/>
                          <a:latin typeface="+mn-lt"/>
                        </a:rPr>
                        <a:t>R</a:t>
                      </a:r>
                      <a:r>
                        <a:rPr lang="en-ZA" sz="1400" b="0" i="0" u="none" strike="noStrike" dirty="0">
                          <a:solidFill>
                            <a:srgbClr val="000000"/>
                          </a:solidFill>
                          <a:effectLst/>
                          <a:latin typeface="+mn-lt"/>
                        </a:rPr>
                        <a:t>69</a:t>
                      </a:r>
                    </a:p>
                  </a:txBody>
                  <a:tcPr marL="9525" marR="9525" marT="9525" marB="0" anchor="b">
                    <a:noFill/>
                  </a:tcPr>
                </a:tc>
                <a:extLst>
                  <a:ext uri="{0D108BD9-81ED-4DB2-BD59-A6C34878D82A}">
                    <a16:rowId xmlns:a16="http://schemas.microsoft.com/office/drawing/2014/main" val="3380163201"/>
                  </a:ext>
                </a:extLst>
              </a:tr>
              <a:tr h="190500">
                <a:tc>
                  <a:txBody>
                    <a:bodyPr/>
                    <a:lstStyle/>
                    <a:p>
                      <a:pPr algn="l" fontAlgn="b"/>
                      <a:endParaRPr lang="en-ZA" sz="1400" b="0" i="0" u="none" strike="noStrike" dirty="0">
                        <a:solidFill>
                          <a:srgbClr val="000000"/>
                        </a:solidFill>
                        <a:effectLst/>
                        <a:latin typeface="+mn-lt"/>
                      </a:endParaRPr>
                    </a:p>
                  </a:txBody>
                  <a:tcPr marL="9525" marR="9525" marT="9525" marB="0" anchor="b">
                    <a:noFill/>
                  </a:tcPr>
                </a:tc>
                <a:tc>
                  <a:txBody>
                    <a:bodyPr/>
                    <a:lstStyle/>
                    <a:p>
                      <a:pPr algn="l" fontAlgn="b"/>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1077943009"/>
                  </a:ext>
                </a:extLst>
              </a:tr>
              <a:tr h="190500">
                <a:tc gridSpan="2">
                  <a:txBody>
                    <a:bodyPr/>
                    <a:lstStyle/>
                    <a:p>
                      <a:pPr algn="ctr" fontAlgn="b"/>
                      <a:r>
                        <a:rPr lang="en-ZA" sz="1400" u="sng" strike="noStrike" dirty="0">
                          <a:solidFill>
                            <a:schemeClr val="bg1"/>
                          </a:solidFill>
                          <a:effectLst/>
                          <a:latin typeface="+mn-lt"/>
                        </a:rPr>
                        <a:t>Additional Exchange Services</a:t>
                      </a:r>
                      <a:endParaRPr lang="en-ZA" sz="1400" b="0" i="0" u="sng" strike="noStrike" dirty="0">
                        <a:solidFill>
                          <a:schemeClr val="bg1"/>
                        </a:solidFill>
                        <a:effectLst/>
                        <a:latin typeface="+mn-lt"/>
                      </a:endParaRPr>
                    </a:p>
                  </a:txBody>
                  <a:tcPr marL="9525" marR="9525" marT="9525" marB="0" anchor="b">
                    <a:solidFill>
                      <a:schemeClr val="bg1">
                        <a:lumMod val="50000"/>
                      </a:schemeClr>
                    </a:solidFill>
                  </a:tcPr>
                </a:tc>
                <a:tc hMerge="1">
                  <a:txBody>
                    <a:bodyPr/>
                    <a:lstStyle/>
                    <a:p>
                      <a:pPr algn="ctr" fontAlgn="b"/>
                      <a:endParaRPr lang="en-ZA" sz="1400" b="0" i="0" u="sng" strike="noStrike" dirty="0">
                        <a:solidFill>
                          <a:srgbClr val="000000"/>
                        </a:solidFill>
                        <a:effectLst/>
                        <a:latin typeface="+mn-lt"/>
                      </a:endParaRPr>
                    </a:p>
                  </a:txBody>
                  <a:tcPr marL="9525" marR="9525" marT="9525" marB="0" anchor="b">
                    <a:solidFill>
                      <a:srgbClr val="C5ECF9"/>
                    </a:solidFill>
                  </a:tcPr>
                </a:tc>
                <a:extLst>
                  <a:ext uri="{0D108BD9-81ED-4DB2-BD59-A6C34878D82A}">
                    <a16:rowId xmlns:a16="http://schemas.microsoft.com/office/drawing/2014/main" val="2480295"/>
                  </a:ext>
                </a:extLst>
              </a:tr>
              <a:tr h="190500">
                <a:tc>
                  <a:txBody>
                    <a:bodyPr/>
                    <a:lstStyle/>
                    <a:p>
                      <a:pPr algn="l" fontAlgn="b"/>
                      <a:r>
                        <a:rPr lang="en-ZA" sz="1400" u="none" strike="noStrike" dirty="0">
                          <a:effectLst/>
                          <a:latin typeface="+mn-lt"/>
                        </a:rPr>
                        <a:t>Spamtitan per user</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US" sz="1400" b="0" i="0" u="none" strike="noStrike" dirty="0">
                          <a:solidFill>
                            <a:srgbClr val="000000"/>
                          </a:solidFill>
                          <a:effectLst/>
                          <a:latin typeface="+mn-lt"/>
                        </a:rPr>
                        <a:t>R</a:t>
                      </a:r>
                      <a:r>
                        <a:rPr lang="en-ZA" sz="1400" b="0" i="0" u="none" strike="noStrike" dirty="0">
                          <a:solidFill>
                            <a:srgbClr val="000000"/>
                          </a:solidFill>
                          <a:effectLst/>
                          <a:latin typeface="+mn-lt"/>
                        </a:rPr>
                        <a:t>7</a:t>
                      </a:r>
                    </a:p>
                  </a:txBody>
                  <a:tcPr marL="9525" marR="9525" marT="9525" marB="0" anchor="b">
                    <a:noFill/>
                  </a:tcPr>
                </a:tc>
                <a:extLst>
                  <a:ext uri="{0D108BD9-81ED-4DB2-BD59-A6C34878D82A}">
                    <a16:rowId xmlns:a16="http://schemas.microsoft.com/office/drawing/2014/main" val="2763416153"/>
                  </a:ext>
                </a:extLst>
              </a:tr>
              <a:tr h="190500">
                <a:tc>
                  <a:txBody>
                    <a:bodyPr/>
                    <a:lstStyle/>
                    <a:p>
                      <a:pPr algn="l" fontAlgn="b"/>
                      <a:r>
                        <a:rPr lang="en-US" sz="1400" b="0" i="0" u="none" strike="noStrike" dirty="0">
                          <a:solidFill>
                            <a:srgbClr val="000000"/>
                          </a:solidFill>
                          <a:effectLst/>
                          <a:latin typeface="+mn-lt"/>
                        </a:rPr>
                        <a:t>Spamtitan Instance</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US" sz="1400" b="0" i="0" u="none" strike="noStrike" dirty="0">
                          <a:solidFill>
                            <a:srgbClr val="000000"/>
                          </a:solidFill>
                          <a:effectLst/>
                          <a:latin typeface="+mn-lt"/>
                        </a:rPr>
                        <a:t>R500</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2579083251"/>
                  </a:ext>
                </a:extLst>
              </a:tr>
              <a:tr h="190500">
                <a:tc>
                  <a:txBody>
                    <a:bodyPr/>
                    <a:lstStyle/>
                    <a:p>
                      <a:pPr algn="l" fontAlgn="b"/>
                      <a:r>
                        <a:rPr lang="en-ZA" sz="1400" u="none" strike="noStrike" dirty="0">
                          <a:effectLst/>
                          <a:latin typeface="+mn-lt"/>
                        </a:rPr>
                        <a:t>Mailbox archiving</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ZA" sz="1400" u="none" strike="noStrike" dirty="0">
                          <a:effectLst/>
                          <a:latin typeface="+mn-lt"/>
                        </a:rPr>
                        <a:t>R40</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4088703400"/>
                  </a:ext>
                </a:extLst>
              </a:tr>
              <a:tr h="190500">
                <a:tc>
                  <a:txBody>
                    <a:bodyPr/>
                    <a:lstStyle/>
                    <a:p>
                      <a:pPr algn="l" fontAlgn="b"/>
                      <a:r>
                        <a:rPr lang="en-ZA" sz="1400" u="none" strike="noStrike" dirty="0">
                          <a:effectLst/>
                          <a:latin typeface="+mn-lt"/>
                        </a:rPr>
                        <a:t>Hosting Controller Portal </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ZA" sz="1400" u="none" strike="noStrike" dirty="0">
                          <a:effectLst/>
                          <a:latin typeface="+mn-lt"/>
                        </a:rPr>
                        <a:t>R450</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2283098959"/>
                  </a:ext>
                </a:extLst>
              </a:tr>
              <a:tr h="0">
                <a:tc>
                  <a:txBody>
                    <a:bodyPr/>
                    <a:lstStyle/>
                    <a:p>
                      <a:pPr algn="l" fontAlgn="b"/>
                      <a:r>
                        <a:rPr lang="en-ZA" sz="1400" u="none" strike="noStrike" dirty="0">
                          <a:effectLst/>
                          <a:latin typeface="+mn-lt"/>
                        </a:rPr>
                        <a:t>Management per Mailbox </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US" sz="1400" b="0" i="0" u="none" strike="noStrike" dirty="0">
                          <a:solidFill>
                            <a:srgbClr val="000000"/>
                          </a:solidFill>
                          <a:effectLst/>
                          <a:latin typeface="+mn-lt"/>
                        </a:rPr>
                        <a:t>R7</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3551613072"/>
                  </a:ext>
                </a:extLst>
              </a:tr>
            </a:tbl>
          </a:graphicData>
        </a:graphic>
      </p:graphicFrame>
      <p:sp>
        <p:nvSpPr>
          <p:cNvPr id="8" name="Rectangle 7">
            <a:extLst>
              <a:ext uri="{FF2B5EF4-FFF2-40B4-BE49-F238E27FC236}">
                <a16:creationId xmlns:a16="http://schemas.microsoft.com/office/drawing/2014/main" id="{EABD1B8E-60C5-49EC-87E2-ACC1C6F98507}"/>
              </a:ext>
            </a:extLst>
          </p:cNvPr>
          <p:cNvSpPr/>
          <p:nvPr/>
        </p:nvSpPr>
        <p:spPr>
          <a:xfrm>
            <a:off x="386605" y="541775"/>
            <a:ext cx="6861881" cy="523220"/>
          </a:xfrm>
          <a:prstGeom prst="rect">
            <a:avLst/>
          </a:prstGeom>
          <a:solidFill>
            <a:srgbClr val="002060"/>
          </a:solidFill>
        </p:spPr>
        <p:txBody>
          <a:bodyPr wrap="square">
            <a:spAutoFit/>
          </a:bodyPr>
          <a:lstStyle/>
          <a:p>
            <a:r>
              <a:rPr lang="en-US" sz="2800" dirty="0">
                <a:solidFill>
                  <a:schemeClr val="bg1"/>
                </a:solidFill>
              </a:rPr>
              <a:t>Reseller Pricing  </a:t>
            </a:r>
            <a:endParaRPr lang="en-ZA" sz="2800" dirty="0">
              <a:solidFill>
                <a:schemeClr val="bg1"/>
              </a:solidFill>
            </a:endParaRPr>
          </a:p>
        </p:txBody>
      </p:sp>
      <p:graphicFrame>
        <p:nvGraphicFramePr>
          <p:cNvPr id="9" name="Table 8">
            <a:extLst>
              <a:ext uri="{FF2B5EF4-FFF2-40B4-BE49-F238E27FC236}">
                <a16:creationId xmlns:a16="http://schemas.microsoft.com/office/drawing/2014/main" id="{6D329FE7-46D1-4BA9-8E4A-E77DC6045F55}"/>
              </a:ext>
            </a:extLst>
          </p:cNvPr>
          <p:cNvGraphicFramePr>
            <a:graphicFrameLocks noGrp="1"/>
          </p:cNvGraphicFramePr>
          <p:nvPr>
            <p:extLst>
              <p:ext uri="{D42A27DB-BD31-4B8C-83A1-F6EECF244321}">
                <p14:modId xmlns:p14="http://schemas.microsoft.com/office/powerpoint/2010/main" val="3216631255"/>
              </p:ext>
            </p:extLst>
          </p:nvPr>
        </p:nvGraphicFramePr>
        <p:xfrm>
          <a:off x="386605" y="1389479"/>
          <a:ext cx="3469732" cy="4680585"/>
        </p:xfrm>
        <a:graphic>
          <a:graphicData uri="http://schemas.openxmlformats.org/drawingml/2006/table">
            <a:tbl>
              <a:tblPr>
                <a:tableStyleId>{5C22544A-7EE6-4342-B048-85BDC9FD1C3A}</a:tableStyleId>
              </a:tblPr>
              <a:tblGrid>
                <a:gridCol w="2697945">
                  <a:extLst>
                    <a:ext uri="{9D8B030D-6E8A-4147-A177-3AD203B41FA5}">
                      <a16:colId xmlns:a16="http://schemas.microsoft.com/office/drawing/2014/main" val="523614085"/>
                    </a:ext>
                  </a:extLst>
                </a:gridCol>
                <a:gridCol w="771787">
                  <a:extLst>
                    <a:ext uri="{9D8B030D-6E8A-4147-A177-3AD203B41FA5}">
                      <a16:colId xmlns:a16="http://schemas.microsoft.com/office/drawing/2014/main" val="2158683568"/>
                    </a:ext>
                  </a:extLst>
                </a:gridCol>
              </a:tblGrid>
              <a:tr h="190500">
                <a:tc gridSpan="2">
                  <a:txBody>
                    <a:bodyPr/>
                    <a:lstStyle/>
                    <a:p>
                      <a:pPr algn="ctr" fontAlgn="b"/>
                      <a:r>
                        <a:rPr lang="en-ZA" sz="1400" u="sng" strike="noStrike" dirty="0">
                          <a:solidFill>
                            <a:schemeClr val="bg1"/>
                          </a:solidFill>
                          <a:effectLst/>
                          <a:latin typeface="+mn-lt"/>
                        </a:rPr>
                        <a:t>Additional Services:</a:t>
                      </a:r>
                      <a:endParaRPr lang="en-ZA" sz="1400" b="1" i="0" u="sng" strike="noStrike" dirty="0">
                        <a:solidFill>
                          <a:schemeClr val="bg1"/>
                        </a:solidFill>
                        <a:effectLst/>
                        <a:latin typeface="+mn-lt"/>
                      </a:endParaRPr>
                    </a:p>
                  </a:txBody>
                  <a:tcPr marL="9525" marR="9525" marT="9525" marB="0" anchor="b">
                    <a:solidFill>
                      <a:schemeClr val="bg1">
                        <a:lumMod val="50000"/>
                      </a:schemeClr>
                    </a:solidFill>
                  </a:tcPr>
                </a:tc>
                <a:tc hMerge="1">
                  <a:txBody>
                    <a:bodyPr/>
                    <a:lstStyle/>
                    <a:p>
                      <a:pPr algn="l" fontAlgn="b"/>
                      <a:endParaRPr lang="en-ZA" sz="1400" b="0" i="0" u="none" strike="noStrike" dirty="0">
                        <a:solidFill>
                          <a:srgbClr val="000000"/>
                        </a:solidFill>
                        <a:effectLst/>
                        <a:latin typeface="+mn-lt"/>
                      </a:endParaRPr>
                    </a:p>
                  </a:txBody>
                  <a:tcPr marL="9525" marR="9525" marT="9525" marB="0" anchor="b">
                    <a:solidFill>
                      <a:srgbClr val="C5ECF9"/>
                    </a:solidFill>
                  </a:tcPr>
                </a:tc>
                <a:extLst>
                  <a:ext uri="{0D108BD9-81ED-4DB2-BD59-A6C34878D82A}">
                    <a16:rowId xmlns:a16="http://schemas.microsoft.com/office/drawing/2014/main" val="3429339975"/>
                  </a:ext>
                </a:extLst>
              </a:tr>
              <a:tr h="190500">
                <a:tc>
                  <a:txBody>
                    <a:bodyPr/>
                    <a:lstStyle/>
                    <a:p>
                      <a:pPr algn="l" fontAlgn="b"/>
                      <a:r>
                        <a:rPr lang="en-ZA" sz="1400" u="none" strike="noStrike" dirty="0">
                          <a:effectLst/>
                          <a:latin typeface="+mn-lt"/>
                        </a:rPr>
                        <a:t>Managed SentinelOne</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US" sz="1400" b="0" i="0" u="none" strike="noStrike" dirty="0">
                          <a:solidFill>
                            <a:srgbClr val="000000"/>
                          </a:solidFill>
                          <a:effectLst/>
                          <a:latin typeface="+mn-lt"/>
                        </a:rPr>
                        <a:t>R</a:t>
                      </a:r>
                      <a:r>
                        <a:rPr lang="en-ZA" sz="1400" b="0" i="0" u="none" strike="noStrike" dirty="0">
                          <a:solidFill>
                            <a:srgbClr val="000000"/>
                          </a:solidFill>
                          <a:effectLst/>
                          <a:latin typeface="+mn-lt"/>
                        </a:rPr>
                        <a:t>70</a:t>
                      </a:r>
                    </a:p>
                  </a:txBody>
                  <a:tcPr marL="9525" marR="9525" marT="9525" marB="0" anchor="b">
                    <a:noFill/>
                  </a:tcPr>
                </a:tc>
                <a:extLst>
                  <a:ext uri="{0D108BD9-81ED-4DB2-BD59-A6C34878D82A}">
                    <a16:rowId xmlns:a16="http://schemas.microsoft.com/office/drawing/2014/main" val="4080153204"/>
                  </a:ext>
                </a:extLst>
              </a:tr>
              <a:tr h="190500">
                <a:tc>
                  <a:txBody>
                    <a:bodyPr/>
                    <a:lstStyle/>
                    <a:p>
                      <a:pPr algn="l" fontAlgn="b"/>
                      <a:r>
                        <a:rPr lang="en-ZA" sz="1400" u="none" strike="noStrike" dirty="0">
                          <a:effectLst/>
                          <a:latin typeface="+mn-lt"/>
                        </a:rPr>
                        <a:t>Server Management</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US" sz="1400" b="0" i="0" u="none" strike="noStrike" dirty="0">
                          <a:solidFill>
                            <a:schemeClr val="tx1"/>
                          </a:solidFill>
                          <a:effectLst/>
                          <a:latin typeface="+mn-lt"/>
                        </a:rPr>
                        <a:t>R</a:t>
                      </a:r>
                      <a:r>
                        <a:rPr lang="en-ZA" sz="1400" b="0" i="0" u="none" strike="noStrike" dirty="0">
                          <a:solidFill>
                            <a:schemeClr val="tx1"/>
                          </a:solidFill>
                          <a:effectLst/>
                          <a:latin typeface="+mn-lt"/>
                        </a:rPr>
                        <a:t>750</a:t>
                      </a:r>
                    </a:p>
                  </a:txBody>
                  <a:tcPr marL="9525" marR="9525" marT="9525" marB="0" anchor="b">
                    <a:noFill/>
                  </a:tcPr>
                </a:tc>
                <a:extLst>
                  <a:ext uri="{0D108BD9-81ED-4DB2-BD59-A6C34878D82A}">
                    <a16:rowId xmlns:a16="http://schemas.microsoft.com/office/drawing/2014/main" val="513264947"/>
                  </a:ext>
                </a:extLst>
              </a:tr>
              <a:tr h="190500">
                <a:tc>
                  <a:txBody>
                    <a:bodyPr/>
                    <a:lstStyle/>
                    <a:p>
                      <a:pPr algn="l" fontAlgn="b"/>
                      <a:r>
                        <a:rPr lang="en-ZA" sz="1400" u="none" strike="noStrike" dirty="0">
                          <a:effectLst/>
                          <a:latin typeface="+mn-lt"/>
                        </a:rPr>
                        <a:t>Windows Server Std 2022</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ZA" sz="1400" u="none" strike="noStrike" dirty="0">
                          <a:effectLst/>
                          <a:latin typeface="+mn-lt"/>
                        </a:rPr>
                        <a:t>R495</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816021706"/>
                  </a:ext>
                </a:extLst>
              </a:tr>
              <a:tr h="190500">
                <a:tc>
                  <a:txBody>
                    <a:bodyPr/>
                    <a:lstStyle/>
                    <a:p>
                      <a:pPr algn="l" fontAlgn="b"/>
                      <a:r>
                        <a:rPr lang="en-ZA" sz="1400" u="none" strike="noStrike" dirty="0">
                          <a:effectLst/>
                          <a:latin typeface="+mn-lt"/>
                        </a:rPr>
                        <a:t>Static IP</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ZA" sz="1400" u="none" strike="noStrike" dirty="0">
                          <a:effectLst/>
                          <a:latin typeface="+mn-lt"/>
                        </a:rPr>
                        <a:t>R55</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2849390439"/>
                  </a:ext>
                </a:extLst>
              </a:tr>
              <a:tr h="190500">
                <a:tc>
                  <a:txBody>
                    <a:bodyPr/>
                    <a:lstStyle/>
                    <a:p>
                      <a:pPr algn="l" fontAlgn="b"/>
                      <a:r>
                        <a:rPr lang="en-ZA" sz="1400" u="none" strike="noStrike" dirty="0">
                          <a:effectLst/>
                          <a:latin typeface="+mn-lt"/>
                        </a:rPr>
                        <a:t>Hyper-V Rep Na-RSA - 250</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ZA" sz="1400" u="none" strike="noStrike" dirty="0">
                          <a:effectLst/>
                          <a:latin typeface="+mn-lt"/>
                        </a:rPr>
                        <a:t>R350</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993942867"/>
                  </a:ext>
                </a:extLst>
              </a:tr>
              <a:tr h="190500">
                <a:tc>
                  <a:txBody>
                    <a:bodyPr/>
                    <a:lstStyle/>
                    <a:p>
                      <a:pPr algn="l" fontAlgn="b"/>
                      <a:r>
                        <a:rPr lang="en-ZA" sz="1400" u="none" strike="noStrike" dirty="0">
                          <a:effectLst/>
                          <a:latin typeface="+mn-lt"/>
                        </a:rPr>
                        <a:t>Hyper-V Rep Na-RSA - 500</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ZA" sz="1400" u="none" strike="noStrike" dirty="0">
                          <a:effectLst/>
                          <a:latin typeface="+mn-lt"/>
                        </a:rPr>
                        <a:t>R500</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2022234730"/>
                  </a:ext>
                </a:extLst>
              </a:tr>
              <a:tr h="190500">
                <a:tc>
                  <a:txBody>
                    <a:bodyPr/>
                    <a:lstStyle/>
                    <a:p>
                      <a:pPr algn="l" fontAlgn="b"/>
                      <a:r>
                        <a:rPr lang="en-ZA" sz="1400" u="none" strike="noStrike" dirty="0">
                          <a:effectLst/>
                          <a:latin typeface="+mn-lt"/>
                        </a:rPr>
                        <a:t>Hyper-V Rep Na-RSA - 1TB</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ZA" sz="1400" u="none" strike="noStrike" dirty="0">
                          <a:effectLst/>
                          <a:latin typeface="+mn-lt"/>
                        </a:rPr>
                        <a:t>R700</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4242117894"/>
                  </a:ext>
                </a:extLst>
              </a:tr>
              <a:tr h="190500">
                <a:tc>
                  <a:txBody>
                    <a:bodyPr/>
                    <a:lstStyle/>
                    <a:p>
                      <a:pPr algn="l" fontAlgn="b"/>
                      <a:r>
                        <a:rPr lang="en-ZA" sz="1400" u="none" strike="noStrike" dirty="0">
                          <a:effectLst/>
                          <a:latin typeface="+mn-lt"/>
                        </a:rPr>
                        <a:t>Hyper-V Rep Na-RSA - 2TB</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ZA" sz="1400" u="none" strike="noStrike" dirty="0">
                          <a:effectLst/>
                          <a:latin typeface="+mn-lt"/>
                        </a:rPr>
                        <a:t>R1200</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742084235"/>
                  </a:ext>
                </a:extLst>
              </a:tr>
              <a:tr h="190500">
                <a:tc>
                  <a:txBody>
                    <a:bodyPr/>
                    <a:lstStyle/>
                    <a:p>
                      <a:pPr algn="l" fontAlgn="b"/>
                      <a:r>
                        <a:rPr lang="en-ZA" sz="1400" u="none" strike="noStrike" dirty="0">
                          <a:effectLst/>
                          <a:latin typeface="+mn-lt"/>
                        </a:rPr>
                        <a:t>Veeam Base  </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ZA" sz="1400" u="none" strike="noStrike" dirty="0">
                          <a:effectLst/>
                          <a:latin typeface="+mn-lt"/>
                        </a:rPr>
                        <a:t>R120</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3424324769"/>
                  </a:ext>
                </a:extLst>
              </a:tr>
              <a:tr h="190500">
                <a:tc>
                  <a:txBody>
                    <a:bodyPr/>
                    <a:lstStyle/>
                    <a:p>
                      <a:pPr algn="l" fontAlgn="b"/>
                      <a:r>
                        <a:rPr lang="en-ZA" sz="1400" u="none" strike="noStrike" dirty="0">
                          <a:effectLst/>
                          <a:latin typeface="+mn-lt"/>
                        </a:rPr>
                        <a:t>Veeam Cloud </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ZA" sz="1400" u="none" strike="noStrike" dirty="0">
                          <a:effectLst/>
                          <a:latin typeface="+mn-lt"/>
                        </a:rPr>
                        <a:t>R160</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521924864"/>
                  </a:ext>
                </a:extLst>
              </a:tr>
              <a:tr h="190500">
                <a:tc>
                  <a:txBody>
                    <a:bodyPr/>
                    <a:lstStyle/>
                    <a:p>
                      <a:pPr algn="l" fontAlgn="b"/>
                      <a:r>
                        <a:rPr lang="en-ZA" sz="1400" u="none" strike="noStrike" dirty="0">
                          <a:effectLst/>
                          <a:latin typeface="+mn-lt"/>
                        </a:rPr>
                        <a:t>Backup Space - Nam</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ZA" sz="1400" u="none" strike="noStrike" dirty="0">
                          <a:effectLst/>
                          <a:latin typeface="+mn-lt"/>
                        </a:rPr>
                        <a:t>R0,95</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2580372465"/>
                  </a:ext>
                </a:extLst>
              </a:tr>
              <a:tr h="190500">
                <a:tc>
                  <a:txBody>
                    <a:bodyPr/>
                    <a:lstStyle/>
                    <a:p>
                      <a:pPr algn="l" fontAlgn="b"/>
                      <a:r>
                        <a:rPr lang="en-ZA" sz="1400" u="none" strike="noStrike" dirty="0">
                          <a:effectLst/>
                          <a:latin typeface="+mn-lt"/>
                        </a:rPr>
                        <a:t>Backup Space - RSA</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ZA" sz="1400" u="none" strike="noStrike" dirty="0">
                          <a:effectLst/>
                          <a:latin typeface="+mn-lt"/>
                        </a:rPr>
                        <a:t>R0,75</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2080859192"/>
                  </a:ext>
                </a:extLst>
              </a:tr>
              <a:tr h="190500">
                <a:tc>
                  <a:txBody>
                    <a:bodyPr/>
                    <a:lstStyle/>
                    <a:p>
                      <a:pPr algn="l" fontAlgn="b"/>
                      <a:r>
                        <a:rPr lang="en-ZA" sz="1400" u="none" strike="noStrike" dirty="0">
                          <a:effectLst/>
                          <a:latin typeface="+mn-lt"/>
                        </a:rPr>
                        <a:t>Checkpoint firewall IP Secure</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ZA" sz="1400" u="none" strike="noStrike" dirty="0">
                          <a:effectLst/>
                          <a:latin typeface="+mn-lt"/>
                        </a:rPr>
                        <a:t>R250</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1767565680"/>
                  </a:ext>
                </a:extLst>
              </a:tr>
              <a:tr h="190500">
                <a:tc>
                  <a:txBody>
                    <a:bodyPr/>
                    <a:lstStyle/>
                    <a:p>
                      <a:pPr algn="l" fontAlgn="b"/>
                      <a:r>
                        <a:rPr lang="en-ZA" sz="1400" u="none" strike="noStrike" dirty="0">
                          <a:effectLst/>
                          <a:latin typeface="+mn-lt"/>
                        </a:rPr>
                        <a:t>Checkpoint Firewall Instance</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ZA" sz="1400" u="none" strike="noStrike" dirty="0">
                          <a:effectLst/>
                          <a:latin typeface="+mn-lt"/>
                        </a:rPr>
                        <a:t>R1500</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1705647343"/>
                  </a:ext>
                </a:extLst>
              </a:tr>
              <a:tr h="190500">
                <a:tc>
                  <a:txBody>
                    <a:bodyPr/>
                    <a:lstStyle/>
                    <a:p>
                      <a:pPr algn="l" fontAlgn="b"/>
                      <a:r>
                        <a:rPr lang="en-ZA" sz="1400" u="none" strike="noStrike" dirty="0">
                          <a:effectLst/>
                          <a:latin typeface="+mn-lt"/>
                        </a:rPr>
                        <a:t>Checkpoint VPN Client</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ZA" sz="1400" u="none" strike="noStrike" dirty="0">
                          <a:effectLst/>
                          <a:latin typeface="+mn-lt"/>
                        </a:rPr>
                        <a:t>R50 </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1427784322"/>
                  </a:ext>
                </a:extLst>
              </a:tr>
              <a:tr h="190500">
                <a:tc>
                  <a:txBody>
                    <a:bodyPr/>
                    <a:lstStyle/>
                    <a:p>
                      <a:pPr algn="l" fontAlgn="b"/>
                      <a:r>
                        <a:rPr lang="en-ZA" sz="1400" u="none" strike="noStrike" dirty="0">
                          <a:effectLst/>
                          <a:latin typeface="+mn-lt"/>
                        </a:rPr>
                        <a:t>WSUS Management</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ZA" sz="1400" u="none" strike="noStrike" dirty="0">
                          <a:effectLst/>
                          <a:latin typeface="+mn-lt"/>
                        </a:rPr>
                        <a:t>R20</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2485717491"/>
                  </a:ext>
                </a:extLst>
              </a:tr>
              <a:tr h="190500">
                <a:tc>
                  <a:txBody>
                    <a:bodyPr/>
                    <a:lstStyle/>
                    <a:p>
                      <a:pPr algn="l" fontAlgn="b"/>
                      <a:r>
                        <a:rPr lang="it-IT" sz="1400" b="0" i="0" u="none" strike="noStrike" dirty="0">
                          <a:solidFill>
                            <a:srgbClr val="000000"/>
                          </a:solidFill>
                          <a:effectLst/>
                          <a:latin typeface="+mn-lt"/>
                        </a:rPr>
                        <a:t>per vHDD (SSD) per GB</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US" sz="1400" b="0" i="0" u="none" strike="noStrike" dirty="0">
                          <a:solidFill>
                            <a:srgbClr val="000000"/>
                          </a:solidFill>
                          <a:effectLst/>
                          <a:latin typeface="+mn-lt"/>
                        </a:rPr>
                        <a:t>R0.30</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3116096797"/>
                  </a:ext>
                </a:extLst>
              </a:tr>
              <a:tr h="190500">
                <a:tc>
                  <a:txBody>
                    <a:bodyPr/>
                    <a:lstStyle/>
                    <a:p>
                      <a:pPr algn="l" fontAlgn="b"/>
                      <a:r>
                        <a:rPr lang="en-US" sz="1400" b="0" i="0" u="none" strike="noStrike" dirty="0">
                          <a:solidFill>
                            <a:srgbClr val="000000"/>
                          </a:solidFill>
                          <a:effectLst/>
                          <a:latin typeface="+mn-lt"/>
                        </a:rPr>
                        <a:t>Data per GB </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US" sz="1400" b="0" i="0" u="none" strike="noStrike" dirty="0">
                          <a:solidFill>
                            <a:srgbClr val="000000"/>
                          </a:solidFill>
                          <a:effectLst/>
                          <a:latin typeface="+mn-lt"/>
                        </a:rPr>
                        <a:t>R0.35</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548763774"/>
                  </a:ext>
                </a:extLst>
              </a:tr>
              <a:tr h="190500">
                <a:tc>
                  <a:txBody>
                    <a:bodyPr/>
                    <a:lstStyle/>
                    <a:p>
                      <a:pPr algn="l" fontAlgn="b"/>
                      <a:r>
                        <a:rPr lang="en-US" sz="1400" b="0" i="0" u="none" strike="noStrike" dirty="0">
                          <a:solidFill>
                            <a:srgbClr val="000000"/>
                          </a:solidFill>
                          <a:effectLst/>
                          <a:latin typeface="+mn-lt"/>
                        </a:rPr>
                        <a:t>Per vCPU </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US" sz="1400" b="0" i="0" u="none" strike="noStrike" dirty="0">
                          <a:solidFill>
                            <a:srgbClr val="000000"/>
                          </a:solidFill>
                          <a:effectLst/>
                          <a:latin typeface="+mn-lt"/>
                        </a:rPr>
                        <a:t>R125</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1795899805"/>
                  </a:ext>
                </a:extLst>
              </a:tr>
              <a:tr h="190500">
                <a:tc>
                  <a:txBody>
                    <a:bodyPr/>
                    <a:lstStyle/>
                    <a:p>
                      <a:pPr algn="l" fontAlgn="b"/>
                      <a:r>
                        <a:rPr lang="en-US" sz="1400" b="0" i="0" u="none" strike="noStrike" dirty="0">
                          <a:solidFill>
                            <a:srgbClr val="000000"/>
                          </a:solidFill>
                          <a:effectLst/>
                          <a:latin typeface="+mn-lt"/>
                        </a:rPr>
                        <a:t>Per vRam</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US" sz="1400" b="0" i="0" u="none" strike="noStrike" dirty="0">
                          <a:solidFill>
                            <a:srgbClr val="000000"/>
                          </a:solidFill>
                          <a:effectLst/>
                          <a:latin typeface="+mn-lt"/>
                        </a:rPr>
                        <a:t>R25</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2852747762"/>
                  </a:ext>
                </a:extLst>
              </a:tr>
            </a:tbl>
          </a:graphicData>
        </a:graphic>
      </p:graphicFrame>
      <p:sp>
        <p:nvSpPr>
          <p:cNvPr id="5" name="Rectangle 4">
            <a:extLst>
              <a:ext uri="{FF2B5EF4-FFF2-40B4-BE49-F238E27FC236}">
                <a16:creationId xmlns:a16="http://schemas.microsoft.com/office/drawing/2014/main" id="{A03A0838-2735-4615-8B67-CE3450D707F5}"/>
              </a:ext>
            </a:extLst>
          </p:cNvPr>
          <p:cNvSpPr/>
          <p:nvPr/>
        </p:nvSpPr>
        <p:spPr>
          <a:xfrm>
            <a:off x="386605" y="6240659"/>
            <a:ext cx="2103589" cy="307777"/>
          </a:xfrm>
          <a:prstGeom prst="rect">
            <a:avLst/>
          </a:prstGeom>
        </p:spPr>
        <p:txBody>
          <a:bodyPr wrap="none">
            <a:spAutoFit/>
          </a:bodyPr>
          <a:lstStyle/>
          <a:p>
            <a:r>
              <a:rPr lang="en-US" sz="1400" dirty="0"/>
              <a:t>*</a:t>
            </a:r>
            <a:r>
              <a:rPr lang="en-ZA" sz="1400" b="1" dirty="0"/>
              <a:t>All prices exclude VAT</a:t>
            </a:r>
            <a:endParaRPr lang="en-ZA" sz="1400" dirty="0"/>
          </a:p>
        </p:txBody>
      </p:sp>
    </p:spTree>
    <p:extLst>
      <p:ext uri="{BB962C8B-B14F-4D97-AF65-F5344CB8AC3E}">
        <p14:creationId xmlns:p14="http://schemas.microsoft.com/office/powerpoint/2010/main" val="40814344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55CCE-6337-40CC-979D-637D78E539AA}"/>
              </a:ext>
            </a:extLst>
          </p:cNvPr>
          <p:cNvSpPr>
            <a:spLocks noGrp="1"/>
          </p:cNvSpPr>
          <p:nvPr>
            <p:ph type="ctrTitle"/>
          </p:nvPr>
        </p:nvSpPr>
        <p:spPr>
          <a:xfrm>
            <a:off x="2800349" y="2605849"/>
            <a:ext cx="5304961" cy="1646302"/>
          </a:xfrm>
        </p:spPr>
        <p:txBody>
          <a:bodyPr/>
          <a:lstStyle/>
          <a:p>
            <a:r>
              <a:rPr lang="en-US" sz="4000" dirty="0">
                <a:solidFill>
                  <a:schemeClr val="tx1"/>
                </a:solidFill>
                <a:latin typeface="+mn-lt"/>
              </a:rPr>
              <a:t>Sautech DC Diagrams </a:t>
            </a:r>
            <a:endParaRPr lang="en-ZA" sz="4000" dirty="0">
              <a:solidFill>
                <a:schemeClr val="tx1"/>
              </a:solidFill>
              <a:latin typeface="+mn-lt"/>
            </a:endParaRPr>
          </a:p>
        </p:txBody>
      </p:sp>
    </p:spTree>
    <p:extLst>
      <p:ext uri="{BB962C8B-B14F-4D97-AF65-F5344CB8AC3E}">
        <p14:creationId xmlns:p14="http://schemas.microsoft.com/office/powerpoint/2010/main" val="4124527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6250F8C-62AB-42CF-A8EE-C33BC5A703B6}"/>
              </a:ext>
            </a:extLst>
          </p:cNvPr>
          <p:cNvPicPr>
            <a:picLocks noChangeAspect="1"/>
          </p:cNvPicPr>
          <p:nvPr/>
        </p:nvPicPr>
        <p:blipFill>
          <a:blip r:embed="rId2"/>
          <a:stretch>
            <a:fillRect/>
          </a:stretch>
        </p:blipFill>
        <p:spPr>
          <a:xfrm>
            <a:off x="272683" y="480266"/>
            <a:ext cx="11646633" cy="5897467"/>
          </a:xfrm>
          <a:prstGeom prst="rect">
            <a:avLst/>
          </a:prstGeom>
        </p:spPr>
      </p:pic>
    </p:spTree>
    <p:extLst>
      <p:ext uri="{BB962C8B-B14F-4D97-AF65-F5344CB8AC3E}">
        <p14:creationId xmlns:p14="http://schemas.microsoft.com/office/powerpoint/2010/main" val="417909628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
  <TotalTime>767</TotalTime>
  <Words>1578</Words>
  <Application>Microsoft Office PowerPoint</Application>
  <PresentationFormat>Widescreen</PresentationFormat>
  <Paragraphs>235</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Trebuchet MS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Sautech DC Diagrams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Chandre</dc:creator>
  <cp:lastModifiedBy>Chandre</cp:lastModifiedBy>
  <cp:revision>69</cp:revision>
  <cp:lastPrinted>2023-03-06T14:00:33Z</cp:lastPrinted>
  <dcterms:created xsi:type="dcterms:W3CDTF">2023-03-03T07:46:30Z</dcterms:created>
  <dcterms:modified xsi:type="dcterms:W3CDTF">2023-03-08T09:47:43Z</dcterms:modified>
</cp:coreProperties>
</file>